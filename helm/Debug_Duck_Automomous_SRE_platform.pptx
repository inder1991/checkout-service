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-1"/>
            <a:ext cx="12191697" cy="45722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960119" y="1280160"/>
            <a:ext cx="9052562" cy="8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DEBUG </a:t>
            </a:r>
            <a:r>
              <a:rPr>
                <a:solidFill>
                  <a:srgbClr val="07B6D5"/>
                </a:solidFill>
              </a:rPr>
              <a:t>DUCK</a:t>
            </a:r>
          </a:p>
        </p:txBody>
      </p:sp>
      <p:sp>
        <p:nvSpPr>
          <p:cNvPr id="96" name="Rectangle 3"/>
          <p:cNvSpPr/>
          <p:nvPr/>
        </p:nvSpPr>
        <p:spPr>
          <a:xfrm>
            <a:off x="914399" y="2971799"/>
            <a:ext cx="2560322" cy="36578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TextBox 4"/>
          <p:cNvSpPr txBox="1"/>
          <p:nvPr/>
        </p:nvSpPr>
        <p:spPr>
          <a:xfrm>
            <a:off x="960119" y="3200399"/>
            <a:ext cx="9052562" cy="452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2800"/>
              </a:lnSpc>
              <a:defRPr sz="2400">
                <a:solidFill>
                  <a:srgbClr val="07B6D5"/>
                </a:solidFill>
              </a:defRPr>
            </a:lvl1pPr>
          </a:lstStyle>
          <a:p>
            <a:pPr/>
            <a:r>
              <a:t>Autonomous SRE Platform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960119" y="3931920"/>
            <a:ext cx="9052562" cy="321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800"/>
              </a:lnSpc>
              <a:defRPr sz="1500">
                <a:solidFill>
                  <a:srgbClr val="B0C4C8"/>
                </a:solidFill>
              </a:defRPr>
            </a:lvl1pPr>
          </a:lstStyle>
          <a:p>
            <a:pPr/>
            <a:r>
              <a:t>Multi-agent AI that diagnoses, fixes, and closes production incidents end-to-end.</a:t>
            </a:r>
          </a:p>
        </p:txBody>
      </p:sp>
      <p:sp>
        <p:nvSpPr>
          <p:cNvPr id="99" name="Oval 6"/>
          <p:cNvSpPr/>
          <p:nvPr/>
        </p:nvSpPr>
        <p:spPr>
          <a:xfrm>
            <a:off x="9601199" y="1371599"/>
            <a:ext cx="182882" cy="182882"/>
          </a:xfrm>
          <a:prstGeom prst="ellipse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9985247" y="1371599"/>
            <a:ext cx="182881" cy="182882"/>
          </a:xfrm>
          <a:prstGeom prst="ellipse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10369295" y="1371599"/>
            <a:ext cx="182881" cy="182882"/>
          </a:xfrm>
          <a:prstGeom prst="ellipse">
            <a:avLst/>
          </a:prstGeom>
          <a:solidFill>
            <a:srgbClr val="F973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10753343" y="1371599"/>
            <a:ext cx="182881" cy="182882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11137392" y="1371599"/>
            <a:ext cx="182881" cy="182882"/>
          </a:xfrm>
          <a:prstGeom prst="ellipse">
            <a:avLst/>
          </a:prstGeom>
          <a:solidFill>
            <a:srgbClr val="3B82F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11521440" y="1371599"/>
            <a:ext cx="182881" cy="182882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Rectangle 12"/>
          <p:cNvSpPr/>
          <p:nvPr/>
        </p:nvSpPr>
        <p:spPr>
          <a:xfrm>
            <a:off x="-1" y="6217920"/>
            <a:ext cx="12191697" cy="64008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TextBox 13"/>
          <p:cNvSpPr txBox="1"/>
          <p:nvPr/>
        </p:nvSpPr>
        <p:spPr>
          <a:xfrm>
            <a:off x="960119" y="6309359"/>
            <a:ext cx="4480562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100">
                <a:solidFill>
                  <a:srgbClr val="6B8A92"/>
                </a:solidFill>
              </a:defRPr>
            </a:lvl1pPr>
          </a:lstStyle>
          <a:p>
            <a:pPr/>
            <a:r>
              <a:t>Evaluation Deck  |  2026</a:t>
            </a:r>
          </a:p>
        </p:txBody>
      </p:sp>
      <p:sp>
        <p:nvSpPr>
          <p:cNvPr id="107" name="TextBox 14"/>
          <p:cNvSpPr txBox="1"/>
          <p:nvPr/>
        </p:nvSpPr>
        <p:spPr>
          <a:xfrm>
            <a:off x="7360919" y="6309359"/>
            <a:ext cx="4023362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ts val="1300"/>
              </a:lnSpc>
              <a:defRPr sz="1100">
                <a:solidFill>
                  <a:srgbClr val="6B8A92"/>
                </a:solidFill>
              </a:defRPr>
            </a:lvl1pPr>
          </a:lstStyle>
          <a:p>
            <a:pPr/>
            <a:r>
              <a:t>debug-duck.io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731519" y="457199"/>
            <a:ext cx="54865" cy="365762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2"/>
          <p:cNvSpPr txBox="1"/>
          <p:nvPr/>
        </p:nvSpPr>
        <p:spPr>
          <a:xfrm>
            <a:off x="978408" y="457199"/>
            <a:ext cx="35661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111" name="TextBox 3"/>
          <p:cNvSpPr txBox="1"/>
          <p:nvPr/>
        </p:nvSpPr>
        <p:spPr>
          <a:xfrm>
            <a:off x="777239" y="1051560"/>
            <a:ext cx="996696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On-Call Is Broken</a:t>
            </a:r>
          </a:p>
        </p:txBody>
      </p:sp>
      <p:sp>
        <p:nvSpPr>
          <p:cNvPr id="112" name="TextBox 4"/>
          <p:cNvSpPr txBox="1"/>
          <p:nvPr/>
        </p:nvSpPr>
        <p:spPr>
          <a:xfrm>
            <a:off x="777239" y="1737360"/>
            <a:ext cx="9052561" cy="298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400">
                <a:solidFill>
                  <a:srgbClr val="B0C4C8"/>
                </a:solidFill>
              </a:defRPr>
            </a:lvl1pPr>
          </a:lstStyle>
          <a:p>
            <a:pPr/>
            <a:r>
              <a:t>Engineers spend hours manually correlating signals across fragmented tooling.</a:t>
            </a:r>
          </a:p>
        </p:txBody>
      </p:sp>
      <p:sp>
        <p:nvSpPr>
          <p:cNvPr id="113" name="Rectangle 5"/>
          <p:cNvSpPr/>
          <p:nvPr/>
        </p:nvSpPr>
        <p:spPr>
          <a:xfrm>
            <a:off x="731519" y="2423160"/>
            <a:ext cx="2514601" cy="155448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Rectangle 6"/>
          <p:cNvSpPr/>
          <p:nvPr/>
        </p:nvSpPr>
        <p:spPr>
          <a:xfrm>
            <a:off x="731519" y="2423160"/>
            <a:ext cx="2514601" cy="45721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7"/>
          <p:cNvSpPr txBox="1"/>
          <p:nvPr/>
        </p:nvSpPr>
        <p:spPr>
          <a:xfrm>
            <a:off x="960120" y="2651760"/>
            <a:ext cx="2057400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4.2 hrs</a:t>
            </a:r>
          </a:p>
        </p:txBody>
      </p:sp>
      <p:sp>
        <p:nvSpPr>
          <p:cNvPr id="116" name="TextBox 8"/>
          <p:cNvSpPr txBox="1"/>
          <p:nvPr/>
        </p:nvSpPr>
        <p:spPr>
          <a:xfrm>
            <a:off x="960120" y="3337559"/>
            <a:ext cx="2057400" cy="42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300"/>
              </a:lnSpc>
              <a:defRPr sz="1100">
                <a:solidFill>
                  <a:srgbClr val="B0C4C8"/>
                </a:solidFill>
              </a:defRPr>
            </a:pPr>
            <a:r>
              <a:t>Average MTTR</a:t>
            </a:r>
            <a:br/>
            <a:r>
              <a:t>across the industry</a:t>
            </a:r>
          </a:p>
        </p:txBody>
      </p:sp>
      <p:sp>
        <p:nvSpPr>
          <p:cNvPr id="117" name="Rectangle 9"/>
          <p:cNvSpPr/>
          <p:nvPr/>
        </p:nvSpPr>
        <p:spPr>
          <a:xfrm>
            <a:off x="3520438" y="2423160"/>
            <a:ext cx="2514601" cy="155448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Rectangle 10"/>
          <p:cNvSpPr/>
          <p:nvPr/>
        </p:nvSpPr>
        <p:spPr>
          <a:xfrm>
            <a:off x="3520438" y="2423160"/>
            <a:ext cx="2514601" cy="45721"/>
          </a:xfrm>
          <a:prstGeom prst="rect">
            <a:avLst/>
          </a:prstGeom>
          <a:solidFill>
            <a:srgbClr val="F973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11"/>
          <p:cNvSpPr txBox="1"/>
          <p:nvPr/>
        </p:nvSpPr>
        <p:spPr>
          <a:xfrm>
            <a:off x="3749040" y="2651760"/>
            <a:ext cx="205740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68%</a:t>
            </a:r>
          </a:p>
        </p:txBody>
      </p:sp>
      <p:sp>
        <p:nvSpPr>
          <p:cNvPr id="120" name="TextBox 12"/>
          <p:cNvSpPr txBox="1"/>
          <p:nvPr/>
        </p:nvSpPr>
        <p:spPr>
          <a:xfrm>
            <a:off x="3749040" y="3337559"/>
            <a:ext cx="2057401" cy="42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300"/>
              </a:lnSpc>
              <a:defRPr sz="1100">
                <a:solidFill>
                  <a:srgbClr val="B0C4C8"/>
                </a:solidFill>
              </a:defRPr>
            </a:pPr>
            <a:r>
              <a:t>SREs cite on-call</a:t>
            </a:r>
            <a:br/>
            <a:r>
              <a:t>as #1 burnout factor</a:t>
            </a:r>
          </a:p>
        </p:txBody>
      </p:sp>
      <p:sp>
        <p:nvSpPr>
          <p:cNvPr id="121" name="Rectangle 13"/>
          <p:cNvSpPr/>
          <p:nvPr/>
        </p:nvSpPr>
        <p:spPr>
          <a:xfrm>
            <a:off x="6309359" y="2423160"/>
            <a:ext cx="2514601" cy="155448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Rectangle 14"/>
          <p:cNvSpPr/>
          <p:nvPr/>
        </p:nvSpPr>
        <p:spPr>
          <a:xfrm>
            <a:off x="6309359" y="2423160"/>
            <a:ext cx="2514601" cy="45721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15"/>
          <p:cNvSpPr txBox="1"/>
          <p:nvPr/>
        </p:nvSpPr>
        <p:spPr>
          <a:xfrm>
            <a:off x="6537960" y="2651760"/>
            <a:ext cx="205740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73%</a:t>
            </a:r>
          </a:p>
        </p:txBody>
      </p:sp>
      <p:sp>
        <p:nvSpPr>
          <p:cNvPr id="124" name="TextBox 16"/>
          <p:cNvSpPr txBox="1"/>
          <p:nvPr/>
        </p:nvSpPr>
        <p:spPr>
          <a:xfrm>
            <a:off x="6537960" y="3337559"/>
            <a:ext cx="2057401" cy="42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300"/>
              </a:lnSpc>
              <a:defRPr sz="1100">
                <a:solidFill>
                  <a:srgbClr val="B0C4C8"/>
                </a:solidFill>
              </a:defRPr>
            </a:pPr>
            <a:r>
              <a:t>Of incidents involve</a:t>
            </a:r>
            <a:br/>
            <a:r>
              <a:t>3+ observability tools</a:t>
            </a:r>
          </a:p>
        </p:txBody>
      </p:sp>
      <p:sp>
        <p:nvSpPr>
          <p:cNvPr id="125" name="Rectangle 17"/>
          <p:cNvSpPr/>
          <p:nvPr/>
        </p:nvSpPr>
        <p:spPr>
          <a:xfrm>
            <a:off x="9098280" y="2423160"/>
            <a:ext cx="2514601" cy="155448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Rectangle 18"/>
          <p:cNvSpPr/>
          <p:nvPr/>
        </p:nvSpPr>
        <p:spPr>
          <a:xfrm>
            <a:off x="9098280" y="2423160"/>
            <a:ext cx="2514601" cy="45721"/>
          </a:xfrm>
          <a:prstGeom prst="rect">
            <a:avLst/>
          </a:prstGeom>
          <a:solidFill>
            <a:srgbClr val="FBB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19"/>
          <p:cNvSpPr txBox="1"/>
          <p:nvPr/>
        </p:nvSpPr>
        <p:spPr>
          <a:xfrm>
            <a:off x="9326879" y="2651760"/>
            <a:ext cx="205740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$12.5K</a:t>
            </a:r>
          </a:p>
        </p:txBody>
      </p:sp>
      <p:sp>
        <p:nvSpPr>
          <p:cNvPr id="128" name="TextBox 20"/>
          <p:cNvSpPr txBox="1"/>
          <p:nvPr/>
        </p:nvSpPr>
        <p:spPr>
          <a:xfrm>
            <a:off x="9326879" y="3337559"/>
            <a:ext cx="2057401" cy="42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300"/>
              </a:lnSpc>
              <a:defRPr sz="1100">
                <a:solidFill>
                  <a:srgbClr val="B0C4C8"/>
                </a:solidFill>
              </a:defRPr>
            </a:pPr>
            <a:r>
              <a:t>Avg cost per hour</a:t>
            </a:r>
            <a:br/>
            <a:r>
              <a:t>of downtime (SMB)</a:t>
            </a:r>
          </a:p>
        </p:txBody>
      </p:sp>
      <p:sp>
        <p:nvSpPr>
          <p:cNvPr id="129" name="Rectangle 21"/>
          <p:cNvSpPr/>
          <p:nvPr/>
        </p:nvSpPr>
        <p:spPr>
          <a:xfrm>
            <a:off x="731519" y="4297679"/>
            <a:ext cx="5029201" cy="86868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Oval 22"/>
          <p:cNvSpPr/>
          <p:nvPr/>
        </p:nvSpPr>
        <p:spPr>
          <a:xfrm>
            <a:off x="868680" y="4480559"/>
            <a:ext cx="411481" cy="411481"/>
          </a:xfrm>
          <a:prstGeom prst="ellipse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23"/>
          <p:cNvSpPr txBox="1"/>
          <p:nvPr/>
        </p:nvSpPr>
        <p:spPr>
          <a:xfrm>
            <a:off x="914400" y="4517135"/>
            <a:ext cx="320041" cy="285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5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32" name="TextBox 24"/>
          <p:cNvSpPr txBox="1"/>
          <p:nvPr/>
        </p:nvSpPr>
        <p:spPr>
          <a:xfrm>
            <a:off x="1508759" y="4407408"/>
            <a:ext cx="3931920" cy="298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Context Switching</a:t>
            </a:r>
          </a:p>
        </p:txBody>
      </p:sp>
      <p:sp>
        <p:nvSpPr>
          <p:cNvPr id="133" name="TextBox 25"/>
          <p:cNvSpPr txBox="1"/>
          <p:nvPr/>
        </p:nvSpPr>
        <p:spPr>
          <a:xfrm>
            <a:off x="1508759" y="4736591"/>
            <a:ext cx="3931920" cy="397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Engineers jump between Kibana, Grafana, Jaeger, and kubectl — losing focus and time.</a:t>
            </a:r>
          </a:p>
        </p:txBody>
      </p:sp>
      <p:sp>
        <p:nvSpPr>
          <p:cNvPr id="134" name="Rectangle 26"/>
          <p:cNvSpPr/>
          <p:nvPr/>
        </p:nvSpPr>
        <p:spPr>
          <a:xfrm>
            <a:off x="6126479" y="4297679"/>
            <a:ext cx="5029201" cy="86868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Oval 27"/>
          <p:cNvSpPr/>
          <p:nvPr/>
        </p:nvSpPr>
        <p:spPr>
          <a:xfrm>
            <a:off x="6263640" y="4480559"/>
            <a:ext cx="411481" cy="411481"/>
          </a:xfrm>
          <a:prstGeom prst="ellipse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28"/>
          <p:cNvSpPr txBox="1"/>
          <p:nvPr/>
        </p:nvSpPr>
        <p:spPr>
          <a:xfrm>
            <a:off x="6309360" y="4517135"/>
            <a:ext cx="320041" cy="285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5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37" name="TextBox 29"/>
          <p:cNvSpPr txBox="1"/>
          <p:nvPr/>
        </p:nvSpPr>
        <p:spPr>
          <a:xfrm>
            <a:off x="6903719" y="4407408"/>
            <a:ext cx="3931921" cy="298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Manual Correlation</a:t>
            </a:r>
          </a:p>
        </p:txBody>
      </p:sp>
      <p:sp>
        <p:nvSpPr>
          <p:cNvPr id="138" name="TextBox 30"/>
          <p:cNvSpPr txBox="1"/>
          <p:nvPr/>
        </p:nvSpPr>
        <p:spPr>
          <a:xfrm>
            <a:off x="6903719" y="4736591"/>
            <a:ext cx="393192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Logs, metrics, traces, and K8s events must be pieced together by hand.</a:t>
            </a:r>
          </a:p>
        </p:txBody>
      </p:sp>
      <p:sp>
        <p:nvSpPr>
          <p:cNvPr id="139" name="Rectangle 31"/>
          <p:cNvSpPr/>
          <p:nvPr/>
        </p:nvSpPr>
        <p:spPr>
          <a:xfrm>
            <a:off x="731519" y="5349240"/>
            <a:ext cx="5029201" cy="86868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Oval 32"/>
          <p:cNvSpPr/>
          <p:nvPr/>
        </p:nvSpPr>
        <p:spPr>
          <a:xfrm>
            <a:off x="868680" y="5532120"/>
            <a:ext cx="411481" cy="411481"/>
          </a:xfrm>
          <a:prstGeom prst="ellipse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33"/>
          <p:cNvSpPr txBox="1"/>
          <p:nvPr/>
        </p:nvSpPr>
        <p:spPr>
          <a:xfrm>
            <a:off x="914400" y="5568696"/>
            <a:ext cx="320041" cy="285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5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42" name="TextBox 34"/>
          <p:cNvSpPr txBox="1"/>
          <p:nvPr/>
        </p:nvSpPr>
        <p:spPr>
          <a:xfrm>
            <a:off x="1508759" y="5458967"/>
            <a:ext cx="3931920" cy="298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Slow Postmortems</a:t>
            </a:r>
          </a:p>
        </p:txBody>
      </p:sp>
      <p:sp>
        <p:nvSpPr>
          <p:cNvPr id="143" name="TextBox 35"/>
          <p:cNvSpPr txBox="1"/>
          <p:nvPr/>
        </p:nvSpPr>
        <p:spPr>
          <a:xfrm>
            <a:off x="1508759" y="5788152"/>
            <a:ext cx="3931920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Written weeks later from fading memory, missing critical details.</a:t>
            </a:r>
          </a:p>
        </p:txBody>
      </p:sp>
      <p:sp>
        <p:nvSpPr>
          <p:cNvPr id="144" name="Rectangle 36"/>
          <p:cNvSpPr/>
          <p:nvPr/>
        </p:nvSpPr>
        <p:spPr>
          <a:xfrm>
            <a:off x="6126479" y="5349240"/>
            <a:ext cx="5029201" cy="86868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Oval 37"/>
          <p:cNvSpPr/>
          <p:nvPr/>
        </p:nvSpPr>
        <p:spPr>
          <a:xfrm>
            <a:off x="6263640" y="5532120"/>
            <a:ext cx="411481" cy="411481"/>
          </a:xfrm>
          <a:prstGeom prst="ellipse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TextBox 38"/>
          <p:cNvSpPr txBox="1"/>
          <p:nvPr/>
        </p:nvSpPr>
        <p:spPr>
          <a:xfrm>
            <a:off x="6309360" y="5568696"/>
            <a:ext cx="320041" cy="285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5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47" name="TextBox 39"/>
          <p:cNvSpPr txBox="1"/>
          <p:nvPr/>
        </p:nvSpPr>
        <p:spPr>
          <a:xfrm>
            <a:off x="6903719" y="5458967"/>
            <a:ext cx="3931921" cy="298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High MTTR</a:t>
            </a:r>
          </a:p>
        </p:txBody>
      </p:sp>
      <p:sp>
        <p:nvSpPr>
          <p:cNvPr id="148" name="TextBox 40"/>
          <p:cNvSpPr txBox="1"/>
          <p:nvPr/>
        </p:nvSpPr>
        <p:spPr>
          <a:xfrm>
            <a:off x="6903719" y="5788152"/>
            <a:ext cx="3931921" cy="397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Mean Time to Resolve remains unacceptably high, impacting users and SLAs.</a:t>
            </a:r>
          </a:p>
        </p:txBody>
      </p:sp>
      <p:sp>
        <p:nvSpPr>
          <p:cNvPr id="149" name="Rectangle 41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42"/>
          <p:cNvSpPr txBox="1"/>
          <p:nvPr/>
        </p:nvSpPr>
        <p:spPr>
          <a:xfrm>
            <a:off x="777239" y="6492240"/>
            <a:ext cx="4480561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sz="900">
                <a:solidFill>
                  <a:srgbClr val="3A5058"/>
                </a:solidFill>
              </a:defRPr>
            </a:lvl1pPr>
          </a:lstStyle>
          <a:p>
            <a:pPr/>
            <a:r>
              <a:t>Debug Duck  |  Autonomous SRE Platform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731519" y="457199"/>
            <a:ext cx="54865" cy="365762"/>
          </a:xfrm>
          <a:prstGeom prst="rect">
            <a:avLst/>
          </a:prstGeom>
          <a:solidFill>
            <a:srgbClr val="F973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TextBox 2"/>
          <p:cNvSpPr txBox="1"/>
          <p:nvPr/>
        </p:nvSpPr>
        <p:spPr>
          <a:xfrm>
            <a:off x="978408" y="457199"/>
            <a:ext cx="35661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WHY NOW?</a:t>
            </a:r>
          </a:p>
        </p:txBody>
      </p:sp>
      <p:sp>
        <p:nvSpPr>
          <p:cNvPr id="154" name="TextBox 3"/>
          <p:cNvSpPr txBox="1"/>
          <p:nvPr/>
        </p:nvSpPr>
        <p:spPr>
          <a:xfrm>
            <a:off x="777239" y="1051560"/>
            <a:ext cx="996696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The Perfect Storm for Autonomous SRE</a:t>
            </a:r>
          </a:p>
        </p:txBody>
      </p:sp>
      <p:sp>
        <p:nvSpPr>
          <p:cNvPr id="155" name="Rectangle 4"/>
          <p:cNvSpPr/>
          <p:nvPr/>
        </p:nvSpPr>
        <p:spPr>
          <a:xfrm>
            <a:off x="731519" y="2194559"/>
            <a:ext cx="3337561" cy="3931922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Rectangle 5"/>
          <p:cNvSpPr/>
          <p:nvPr/>
        </p:nvSpPr>
        <p:spPr>
          <a:xfrm>
            <a:off x="731519" y="2194560"/>
            <a:ext cx="3337561" cy="45721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6"/>
          <p:cNvSpPr txBox="1"/>
          <p:nvPr/>
        </p:nvSpPr>
        <p:spPr>
          <a:xfrm>
            <a:off x="1051559" y="2423160"/>
            <a:ext cx="2651761" cy="29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Microservices Explosion</a:t>
            </a:r>
          </a:p>
        </p:txBody>
      </p:sp>
      <p:sp>
        <p:nvSpPr>
          <p:cNvPr id="158" name="TextBox 7"/>
          <p:cNvSpPr txBox="1"/>
          <p:nvPr/>
        </p:nvSpPr>
        <p:spPr>
          <a:xfrm>
            <a:off x="1051559" y="2926079"/>
            <a:ext cx="2651761" cy="1383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07B6D5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Avg enterprise runs 500+ microservices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07B6D5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Service mesh complexity growing 3x YoY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07B6D5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Manual correlation now humanly impossible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07B6D5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Observability data volume doubling annually</a:t>
            </a:r>
          </a:p>
        </p:txBody>
      </p:sp>
      <p:sp>
        <p:nvSpPr>
          <p:cNvPr id="159" name="Rectangle 8"/>
          <p:cNvSpPr/>
          <p:nvPr/>
        </p:nvSpPr>
        <p:spPr>
          <a:xfrm>
            <a:off x="4343399" y="2194559"/>
            <a:ext cx="3337561" cy="3931922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Rectangle 9"/>
          <p:cNvSpPr/>
          <p:nvPr/>
        </p:nvSpPr>
        <p:spPr>
          <a:xfrm>
            <a:off x="4343399" y="2194560"/>
            <a:ext cx="3337561" cy="4572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10"/>
          <p:cNvSpPr txBox="1"/>
          <p:nvPr/>
        </p:nvSpPr>
        <p:spPr>
          <a:xfrm>
            <a:off x="4663440" y="2423160"/>
            <a:ext cx="2651761" cy="29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LLM Reasoning Maturity</a:t>
            </a:r>
          </a:p>
        </p:txBody>
      </p:sp>
      <p:sp>
        <p:nvSpPr>
          <p:cNvPr id="162" name="TextBox 11"/>
          <p:cNvSpPr txBox="1"/>
          <p:nvPr/>
        </p:nvSpPr>
        <p:spPr>
          <a:xfrm>
            <a:off x="4663440" y="2926079"/>
            <a:ext cx="2651761" cy="1009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10B981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Claude, GPT-4 class models can reason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10B981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Multi-agent orchestration now reliable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10B981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Code generation quality production-ready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10B981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Cost per inference dropping 10x yearly</a:t>
            </a:r>
          </a:p>
        </p:txBody>
      </p:sp>
      <p:sp>
        <p:nvSpPr>
          <p:cNvPr id="163" name="Rectangle 12"/>
          <p:cNvSpPr/>
          <p:nvPr/>
        </p:nvSpPr>
        <p:spPr>
          <a:xfrm>
            <a:off x="7955280" y="2194559"/>
            <a:ext cx="3337560" cy="3931922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Rectangle 13"/>
          <p:cNvSpPr/>
          <p:nvPr/>
        </p:nvSpPr>
        <p:spPr>
          <a:xfrm>
            <a:off x="7955280" y="2194560"/>
            <a:ext cx="3337560" cy="45721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14"/>
          <p:cNvSpPr txBox="1"/>
          <p:nvPr/>
        </p:nvSpPr>
        <p:spPr>
          <a:xfrm>
            <a:off x="8275319" y="2423160"/>
            <a:ext cx="2651762" cy="29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SRE Talent Crisis</a:t>
            </a:r>
          </a:p>
        </p:txBody>
      </p:sp>
      <p:sp>
        <p:nvSpPr>
          <p:cNvPr id="166" name="TextBox 15"/>
          <p:cNvSpPr txBox="1"/>
          <p:nvPr/>
        </p:nvSpPr>
        <p:spPr>
          <a:xfrm>
            <a:off x="8275319" y="2926079"/>
            <a:ext cx="2651762" cy="1009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EF4444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40% SRE turnover rate industry-wide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EF4444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Senior SRE salary: $250K+ (US)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EF4444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Hiring takes 6+ months on average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EF4444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On-call burnout driving attrition</a:t>
            </a:r>
          </a:p>
        </p:txBody>
      </p:sp>
      <p:sp>
        <p:nvSpPr>
          <p:cNvPr id="167" name="Rectangle 16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extBox 17"/>
          <p:cNvSpPr txBox="1"/>
          <p:nvPr/>
        </p:nvSpPr>
        <p:spPr>
          <a:xfrm>
            <a:off x="777239" y="6492240"/>
            <a:ext cx="4480561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sz="900">
                <a:solidFill>
                  <a:srgbClr val="3A5058"/>
                </a:solidFill>
              </a:defRPr>
            </a:lvl1pPr>
          </a:lstStyle>
          <a:p>
            <a:pPr/>
            <a:r>
              <a:t>Debug Duck  |  Autonomous SRE Platform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731519" y="457199"/>
            <a:ext cx="54865" cy="365762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TextBox 2"/>
          <p:cNvSpPr txBox="1"/>
          <p:nvPr/>
        </p:nvSpPr>
        <p:spPr>
          <a:xfrm>
            <a:off x="978408" y="457199"/>
            <a:ext cx="35661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THE SOLUTION</a:t>
            </a:r>
          </a:p>
        </p:txBody>
      </p:sp>
      <p:sp>
        <p:nvSpPr>
          <p:cNvPr id="172" name="TextBox 3"/>
          <p:cNvSpPr txBox="1"/>
          <p:nvPr/>
        </p:nvSpPr>
        <p:spPr>
          <a:xfrm>
            <a:off x="777239" y="1051560"/>
            <a:ext cx="996696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The AI War Room</a:t>
            </a:r>
          </a:p>
        </p:txBody>
      </p:sp>
      <p:sp>
        <p:nvSpPr>
          <p:cNvPr id="173" name="TextBox 4"/>
          <p:cNvSpPr txBox="1"/>
          <p:nvPr/>
        </p:nvSpPr>
        <p:spPr>
          <a:xfrm>
            <a:off x="777239" y="1737360"/>
            <a:ext cx="9052561" cy="298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400">
                <a:solidFill>
                  <a:srgbClr val="B0C4C8"/>
                </a:solidFill>
              </a:defRPr>
            </a:lvl1pPr>
          </a:lstStyle>
          <a:p>
            <a:pPr/>
            <a:r>
              <a:t>A unified investigation interface that replaces manual toil with autonomous AI agents.</a:t>
            </a:r>
          </a:p>
        </p:txBody>
      </p:sp>
      <p:sp>
        <p:nvSpPr>
          <p:cNvPr id="174" name="Rectangle 5"/>
          <p:cNvSpPr/>
          <p:nvPr/>
        </p:nvSpPr>
        <p:spPr>
          <a:xfrm>
            <a:off x="731519" y="2285999"/>
            <a:ext cx="3337561" cy="37947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Rectangle 6"/>
          <p:cNvSpPr/>
          <p:nvPr/>
        </p:nvSpPr>
        <p:spPr>
          <a:xfrm>
            <a:off x="731519" y="2285999"/>
            <a:ext cx="3337561" cy="45722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TextBox 7"/>
          <p:cNvSpPr txBox="1"/>
          <p:nvPr/>
        </p:nvSpPr>
        <p:spPr>
          <a:xfrm>
            <a:off x="1051559" y="2514599"/>
            <a:ext cx="2651761" cy="28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b="1" sz="13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INVESTIGATOR</a:t>
            </a:r>
          </a:p>
        </p:txBody>
      </p:sp>
      <p:sp>
        <p:nvSpPr>
          <p:cNvPr id="177" name="TextBox 8"/>
          <p:cNvSpPr txBox="1"/>
          <p:nvPr/>
        </p:nvSpPr>
        <p:spPr>
          <a:xfrm>
            <a:off x="1051559" y="2971799"/>
            <a:ext cx="2651761" cy="1060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600"/>
              </a:lnSpc>
              <a:spcBef>
                <a:spcPts val="400"/>
              </a:spcBef>
              <a:defRPr b="1" sz="1400">
                <a:solidFill>
                  <a:srgbClr val="07B6D5"/>
                </a:solidFill>
              </a:defRPr>
            </a:pPr>
            <a:r>
              <a:t>›  </a:t>
            </a:r>
            <a:r>
              <a:rPr b="0" sz="1200">
                <a:solidFill>
                  <a:srgbClr val="B0C4C8"/>
                </a:solidFill>
              </a:rPr>
              <a:t>Patient Zero detection</a:t>
            </a:r>
            <a:endParaRPr b="0" sz="1200">
              <a:solidFill>
                <a:srgbClr val="B0C4C8"/>
              </a:solidFill>
            </a:endParaRPr>
          </a:p>
          <a:p>
            <a:pPr>
              <a:lnSpc>
                <a:spcPts val="1600"/>
              </a:lnSpc>
              <a:spcBef>
                <a:spcPts val="400"/>
              </a:spcBef>
              <a:defRPr b="1" sz="1400">
                <a:solidFill>
                  <a:srgbClr val="07B6D5"/>
                </a:solidFill>
              </a:defRPr>
            </a:pPr>
            <a:r>
              <a:t>›  </a:t>
            </a:r>
            <a:r>
              <a:rPr b="0" sz="1200">
                <a:solidFill>
                  <a:srgbClr val="B0C4C8"/>
                </a:solidFill>
              </a:rPr>
              <a:t>Incident timeline builder</a:t>
            </a:r>
            <a:endParaRPr b="0" sz="1200">
              <a:solidFill>
                <a:srgbClr val="B0C4C8"/>
              </a:solidFill>
            </a:endParaRPr>
          </a:p>
          <a:p>
            <a:pPr>
              <a:lnSpc>
                <a:spcPts val="1600"/>
              </a:lnSpc>
              <a:spcBef>
                <a:spcPts val="400"/>
              </a:spcBef>
              <a:defRPr b="1" sz="1400">
                <a:solidFill>
                  <a:srgbClr val="07B6D5"/>
                </a:solidFill>
              </a:defRPr>
            </a:pPr>
            <a:r>
              <a:t>›  </a:t>
            </a:r>
            <a:r>
              <a:rPr b="0" sz="1200">
                <a:solidFill>
                  <a:srgbClr val="B0C4C8"/>
                </a:solidFill>
              </a:rPr>
              <a:t>AI-powered chat interface</a:t>
            </a:r>
            <a:endParaRPr b="0" sz="1200">
              <a:solidFill>
                <a:srgbClr val="B0C4C8"/>
              </a:solidFill>
            </a:endParaRPr>
          </a:p>
          <a:p>
            <a:pPr>
              <a:lnSpc>
                <a:spcPts val="1600"/>
              </a:lnSpc>
              <a:spcBef>
                <a:spcPts val="400"/>
              </a:spcBef>
              <a:defRPr b="1" sz="1400">
                <a:solidFill>
                  <a:srgbClr val="07B6D5"/>
                </a:solidFill>
              </a:defRPr>
            </a:pPr>
            <a:r>
              <a:t>›  </a:t>
            </a:r>
            <a:r>
              <a:rPr b="0" sz="1200">
                <a:solidFill>
                  <a:srgbClr val="B0C4C8"/>
                </a:solidFill>
              </a:rPr>
              <a:t>Real-time agent status</a:t>
            </a:r>
          </a:p>
        </p:txBody>
      </p:sp>
      <p:sp>
        <p:nvSpPr>
          <p:cNvPr id="178" name="Rectangle 9"/>
          <p:cNvSpPr/>
          <p:nvPr/>
        </p:nvSpPr>
        <p:spPr>
          <a:xfrm>
            <a:off x="4343399" y="2285999"/>
            <a:ext cx="3337561" cy="37947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Rectangle 10"/>
          <p:cNvSpPr/>
          <p:nvPr/>
        </p:nvSpPr>
        <p:spPr>
          <a:xfrm>
            <a:off x="4343399" y="2285999"/>
            <a:ext cx="3337561" cy="45722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11"/>
          <p:cNvSpPr txBox="1"/>
          <p:nvPr/>
        </p:nvSpPr>
        <p:spPr>
          <a:xfrm>
            <a:off x="4663440" y="2514599"/>
            <a:ext cx="2651761" cy="28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b="1" sz="13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EVIDENCE FINDINGS</a:t>
            </a:r>
          </a:p>
        </p:txBody>
      </p:sp>
      <p:sp>
        <p:nvSpPr>
          <p:cNvPr id="181" name="TextBox 12"/>
          <p:cNvSpPr txBox="1"/>
          <p:nvPr/>
        </p:nvSpPr>
        <p:spPr>
          <a:xfrm>
            <a:off x="4663440" y="2971799"/>
            <a:ext cx="2651761" cy="1060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600"/>
              </a:lnSpc>
              <a:spcBef>
                <a:spcPts val="400"/>
              </a:spcBef>
              <a:defRPr b="1" sz="1400">
                <a:solidFill>
                  <a:srgbClr val="10B981"/>
                </a:solidFill>
              </a:defRPr>
            </a:pPr>
            <a:r>
              <a:t>›  </a:t>
            </a:r>
            <a:r>
              <a:rPr b="0" sz="1200">
                <a:solidFill>
                  <a:srgbClr val="B0C4C8"/>
                </a:solidFill>
              </a:rPr>
              <a:t>Priority-ordered evidence stack</a:t>
            </a:r>
            <a:endParaRPr b="0" sz="1200">
              <a:solidFill>
                <a:srgbClr val="B0C4C8"/>
              </a:solidFill>
            </a:endParaRPr>
          </a:p>
          <a:p>
            <a:pPr>
              <a:lnSpc>
                <a:spcPts val="1600"/>
              </a:lnSpc>
              <a:spcBef>
                <a:spcPts val="400"/>
              </a:spcBef>
              <a:defRPr b="1" sz="1400">
                <a:solidFill>
                  <a:srgbClr val="10B981"/>
                </a:solidFill>
              </a:defRPr>
            </a:pPr>
            <a:r>
              <a:t>›  </a:t>
            </a:r>
            <a:r>
              <a:rPr b="0" sz="1200">
                <a:solidFill>
                  <a:srgbClr val="B0C4C8"/>
                </a:solidFill>
              </a:rPr>
              <a:t>Error patterns with confidence</a:t>
            </a:r>
            <a:endParaRPr b="0" sz="1200">
              <a:solidFill>
                <a:srgbClr val="B0C4C8"/>
              </a:solidFill>
            </a:endParaRPr>
          </a:p>
          <a:p>
            <a:pPr>
              <a:lnSpc>
                <a:spcPts val="1600"/>
              </a:lnSpc>
              <a:spcBef>
                <a:spcPts val="400"/>
              </a:spcBef>
              <a:defRPr b="1" sz="1400">
                <a:solidFill>
                  <a:srgbClr val="10B981"/>
                </a:solidFill>
              </a:defRPr>
            </a:pPr>
            <a:r>
              <a:t>›  </a:t>
            </a:r>
            <a:r>
              <a:rPr b="0" sz="1200">
                <a:solidFill>
                  <a:srgbClr val="B0C4C8"/>
                </a:solidFill>
              </a:rPr>
              <a:t>Metric anomalies &amp; K8s events</a:t>
            </a:r>
            <a:endParaRPr b="0" sz="1200">
              <a:solidFill>
                <a:srgbClr val="B0C4C8"/>
              </a:solidFill>
            </a:endParaRPr>
          </a:p>
          <a:p>
            <a:pPr>
              <a:lnSpc>
                <a:spcPts val="1600"/>
              </a:lnSpc>
              <a:spcBef>
                <a:spcPts val="400"/>
              </a:spcBef>
              <a:defRPr b="1" sz="1400">
                <a:solidFill>
                  <a:srgbClr val="10B981"/>
                </a:solidFill>
              </a:defRPr>
            </a:pPr>
            <a:r>
              <a:t>›  </a:t>
            </a:r>
            <a:r>
              <a:rPr b="0" sz="1200">
                <a:solidFill>
                  <a:srgbClr val="B0C4C8"/>
                </a:solidFill>
              </a:rPr>
              <a:t>Code analysis results</a:t>
            </a:r>
          </a:p>
        </p:txBody>
      </p:sp>
      <p:sp>
        <p:nvSpPr>
          <p:cNvPr id="182" name="Rectangle 13"/>
          <p:cNvSpPr/>
          <p:nvPr/>
        </p:nvSpPr>
        <p:spPr>
          <a:xfrm>
            <a:off x="7955280" y="2285999"/>
            <a:ext cx="3337560" cy="37947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Rectangle 14"/>
          <p:cNvSpPr/>
          <p:nvPr/>
        </p:nvSpPr>
        <p:spPr>
          <a:xfrm>
            <a:off x="7955280" y="2285999"/>
            <a:ext cx="3337560" cy="45722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extBox 15"/>
          <p:cNvSpPr txBox="1"/>
          <p:nvPr/>
        </p:nvSpPr>
        <p:spPr>
          <a:xfrm>
            <a:off x="8275319" y="2514599"/>
            <a:ext cx="2651762" cy="28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b="1" sz="1300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NAVIGATOR</a:t>
            </a:r>
          </a:p>
        </p:txBody>
      </p:sp>
      <p:sp>
        <p:nvSpPr>
          <p:cNvPr id="185" name="TextBox 16"/>
          <p:cNvSpPr txBox="1"/>
          <p:nvPr/>
        </p:nvSpPr>
        <p:spPr>
          <a:xfrm>
            <a:off x="8275319" y="2971799"/>
            <a:ext cx="2651762" cy="1060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600"/>
              </a:lnSpc>
              <a:spcBef>
                <a:spcPts val="400"/>
              </a:spcBef>
              <a:defRPr b="1" sz="1400">
                <a:solidFill>
                  <a:srgbClr val="3B82F6"/>
                </a:solidFill>
              </a:defRPr>
            </a:pPr>
            <a:r>
              <a:t>›  </a:t>
            </a:r>
            <a:r>
              <a:rPr b="0" sz="1200">
                <a:solidFill>
                  <a:srgbClr val="B0C4C8"/>
                </a:solidFill>
              </a:rPr>
              <a:t>Service topology graph</a:t>
            </a:r>
            <a:endParaRPr b="0" sz="1200">
              <a:solidFill>
                <a:srgbClr val="B0C4C8"/>
              </a:solidFill>
            </a:endParaRPr>
          </a:p>
          <a:p>
            <a:pPr>
              <a:lnSpc>
                <a:spcPts val="1600"/>
              </a:lnSpc>
              <a:spcBef>
                <a:spcPts val="400"/>
              </a:spcBef>
              <a:defRPr b="1" sz="1400">
                <a:solidFill>
                  <a:srgbClr val="3B82F6"/>
                </a:solidFill>
              </a:defRPr>
            </a:pPr>
            <a:r>
              <a:t>›  </a:t>
            </a:r>
            <a:r>
              <a:rPr b="0" sz="1200">
                <a:solidFill>
                  <a:srgbClr val="B0C4C8"/>
                </a:solidFill>
              </a:rPr>
              <a:t>Metrics validation panel</a:t>
            </a:r>
            <a:endParaRPr b="0" sz="1200">
              <a:solidFill>
                <a:srgbClr val="B0C4C8"/>
              </a:solidFill>
            </a:endParaRPr>
          </a:p>
          <a:p>
            <a:pPr>
              <a:lnSpc>
                <a:spcPts val="1600"/>
              </a:lnSpc>
              <a:spcBef>
                <a:spcPts val="400"/>
              </a:spcBef>
              <a:defRPr b="1" sz="1400">
                <a:solidFill>
                  <a:srgbClr val="3B82F6"/>
                </a:solidFill>
              </a:defRPr>
            </a:pPr>
            <a:r>
              <a:t>›  </a:t>
            </a:r>
            <a:r>
              <a:rPr b="0" sz="1200">
                <a:solidFill>
                  <a:srgbClr val="B0C4C8"/>
                </a:solidFill>
              </a:rPr>
              <a:t>Infrastructure health map</a:t>
            </a:r>
            <a:endParaRPr b="0" sz="1200">
              <a:solidFill>
                <a:srgbClr val="B0C4C8"/>
              </a:solidFill>
            </a:endParaRPr>
          </a:p>
          <a:p>
            <a:pPr>
              <a:lnSpc>
                <a:spcPts val="1600"/>
              </a:lnSpc>
              <a:spcBef>
                <a:spcPts val="400"/>
              </a:spcBef>
              <a:defRPr b="1" sz="1400">
                <a:solidFill>
                  <a:srgbClr val="3B82F6"/>
                </a:solidFill>
              </a:defRPr>
            </a:pPr>
            <a:r>
              <a:t>›  </a:t>
            </a:r>
            <a:r>
              <a:rPr b="0" sz="1200">
                <a:solidFill>
                  <a:srgbClr val="B0C4C8"/>
                </a:solidFill>
              </a:rPr>
              <a:t>Blast radius visualization</a:t>
            </a:r>
          </a:p>
        </p:txBody>
      </p:sp>
      <p:sp>
        <p:nvSpPr>
          <p:cNvPr id="186" name="Rectangle 17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18"/>
          <p:cNvSpPr txBox="1"/>
          <p:nvPr/>
        </p:nvSpPr>
        <p:spPr>
          <a:xfrm>
            <a:off x="777239" y="6492240"/>
            <a:ext cx="4480561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sz="900">
                <a:solidFill>
                  <a:srgbClr val="3A5058"/>
                </a:solidFill>
              </a:defRPr>
            </a:lvl1pPr>
          </a:lstStyle>
          <a:p>
            <a:pPr/>
            <a:r>
              <a:t>Debug Duck  |  Autonomous SRE Platform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"/>
          <p:cNvSpPr/>
          <p:nvPr/>
        </p:nvSpPr>
        <p:spPr>
          <a:xfrm>
            <a:off x="731519" y="457199"/>
            <a:ext cx="54865" cy="365762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TextBox 2"/>
          <p:cNvSpPr txBox="1"/>
          <p:nvPr/>
        </p:nvSpPr>
        <p:spPr>
          <a:xfrm>
            <a:off x="978408" y="457199"/>
            <a:ext cx="35661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191" name="TextBox 3"/>
          <p:cNvSpPr txBox="1"/>
          <p:nvPr/>
        </p:nvSpPr>
        <p:spPr>
          <a:xfrm>
            <a:off x="777239" y="1051560"/>
            <a:ext cx="996696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 Specialized AI Agents</a:t>
            </a:r>
          </a:p>
        </p:txBody>
      </p:sp>
      <p:sp>
        <p:nvSpPr>
          <p:cNvPr id="192" name="Rectangle 4"/>
          <p:cNvSpPr/>
          <p:nvPr/>
        </p:nvSpPr>
        <p:spPr>
          <a:xfrm>
            <a:off x="731519" y="1828800"/>
            <a:ext cx="10515601" cy="59436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Rectangle 5"/>
          <p:cNvSpPr/>
          <p:nvPr/>
        </p:nvSpPr>
        <p:spPr>
          <a:xfrm>
            <a:off x="731519" y="1828800"/>
            <a:ext cx="54865" cy="594360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" name="Oval 6"/>
          <p:cNvSpPr/>
          <p:nvPr/>
        </p:nvSpPr>
        <p:spPr>
          <a:xfrm>
            <a:off x="1005839" y="1901951"/>
            <a:ext cx="438913" cy="438913"/>
          </a:xfrm>
          <a:prstGeom prst="ellipse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TextBox 7"/>
          <p:cNvSpPr txBox="1"/>
          <p:nvPr/>
        </p:nvSpPr>
        <p:spPr>
          <a:xfrm>
            <a:off x="1051559" y="1929383"/>
            <a:ext cx="347473" cy="35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2100"/>
              </a:lnSpc>
              <a:defRPr b="1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</a:t>
            </a:r>
          </a:p>
        </p:txBody>
      </p:sp>
      <p:sp>
        <p:nvSpPr>
          <p:cNvPr id="196" name="TextBox 8"/>
          <p:cNvSpPr txBox="1"/>
          <p:nvPr/>
        </p:nvSpPr>
        <p:spPr>
          <a:xfrm>
            <a:off x="1691640" y="1901951"/>
            <a:ext cx="2194561" cy="267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LOG ANALYZER</a:t>
            </a:r>
          </a:p>
        </p:txBody>
      </p:sp>
      <p:sp>
        <p:nvSpPr>
          <p:cNvPr id="197" name="TextBox 9"/>
          <p:cNvSpPr txBox="1"/>
          <p:nvPr/>
        </p:nvSpPr>
        <p:spPr>
          <a:xfrm>
            <a:off x="3977640" y="1920239"/>
            <a:ext cx="6766561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100">
                <a:solidFill>
                  <a:srgbClr val="B0C4C8"/>
                </a:solidFill>
              </a:defRPr>
            </a:lvl1pPr>
          </a:lstStyle>
          <a:p>
            <a:pPr/>
            <a:r>
              <a:t>Ingests Elasticsearch logs, detects error patterns, identifies causal roles, builds timeline</a:t>
            </a:r>
          </a:p>
        </p:txBody>
      </p:sp>
      <p:sp>
        <p:nvSpPr>
          <p:cNvPr id="198" name="Rectangle 10"/>
          <p:cNvSpPr/>
          <p:nvPr/>
        </p:nvSpPr>
        <p:spPr>
          <a:xfrm>
            <a:off x="731519" y="2542032"/>
            <a:ext cx="10515601" cy="5943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Rectangle 11"/>
          <p:cNvSpPr/>
          <p:nvPr/>
        </p:nvSpPr>
        <p:spPr>
          <a:xfrm>
            <a:off x="731519" y="2542032"/>
            <a:ext cx="54865" cy="594361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Oval 12"/>
          <p:cNvSpPr/>
          <p:nvPr/>
        </p:nvSpPr>
        <p:spPr>
          <a:xfrm>
            <a:off x="1005839" y="2615183"/>
            <a:ext cx="438913" cy="438913"/>
          </a:xfrm>
          <a:prstGeom prst="ellipse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extBox 13"/>
          <p:cNvSpPr txBox="1"/>
          <p:nvPr/>
        </p:nvSpPr>
        <p:spPr>
          <a:xfrm>
            <a:off x="1051559" y="2642616"/>
            <a:ext cx="347473" cy="355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2100"/>
              </a:lnSpc>
              <a:defRPr b="1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</a:t>
            </a:r>
          </a:p>
        </p:txBody>
      </p:sp>
      <p:sp>
        <p:nvSpPr>
          <p:cNvPr id="202" name="TextBox 14"/>
          <p:cNvSpPr txBox="1"/>
          <p:nvPr/>
        </p:nvSpPr>
        <p:spPr>
          <a:xfrm>
            <a:off x="1691640" y="2615183"/>
            <a:ext cx="2194561" cy="267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METRICS SCANNER</a:t>
            </a:r>
          </a:p>
        </p:txBody>
      </p:sp>
      <p:sp>
        <p:nvSpPr>
          <p:cNvPr id="203" name="TextBox 15"/>
          <p:cNvSpPr txBox="1"/>
          <p:nvPr/>
        </p:nvSpPr>
        <p:spPr>
          <a:xfrm>
            <a:off x="3977640" y="2633472"/>
            <a:ext cx="6766561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100">
                <a:solidFill>
                  <a:srgbClr val="B0C4C8"/>
                </a:solidFill>
              </a:defRPr>
            </a:lvl1pPr>
          </a:lstStyle>
          <a:p>
            <a:pPr/>
            <a:r>
              <a:t>Queries Prometheus, detects anomalies via spike detection, correlates RED/USE signals</a:t>
            </a:r>
          </a:p>
        </p:txBody>
      </p:sp>
      <p:sp>
        <p:nvSpPr>
          <p:cNvPr id="204" name="Rectangle 16"/>
          <p:cNvSpPr/>
          <p:nvPr/>
        </p:nvSpPr>
        <p:spPr>
          <a:xfrm>
            <a:off x="731519" y="3255264"/>
            <a:ext cx="10515601" cy="5943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Rectangle 17"/>
          <p:cNvSpPr/>
          <p:nvPr/>
        </p:nvSpPr>
        <p:spPr>
          <a:xfrm>
            <a:off x="731519" y="3255264"/>
            <a:ext cx="54865" cy="594361"/>
          </a:xfrm>
          <a:prstGeom prst="rect">
            <a:avLst/>
          </a:prstGeom>
          <a:solidFill>
            <a:srgbClr val="A78B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" name="Oval 18"/>
          <p:cNvSpPr/>
          <p:nvPr/>
        </p:nvSpPr>
        <p:spPr>
          <a:xfrm>
            <a:off x="1005839" y="3328415"/>
            <a:ext cx="438913" cy="438913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19"/>
          <p:cNvSpPr txBox="1"/>
          <p:nvPr/>
        </p:nvSpPr>
        <p:spPr>
          <a:xfrm>
            <a:off x="1051559" y="3355847"/>
            <a:ext cx="347473" cy="35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2100"/>
              </a:lnSpc>
              <a:defRPr b="1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208" name="TextBox 20"/>
          <p:cNvSpPr txBox="1"/>
          <p:nvPr/>
        </p:nvSpPr>
        <p:spPr>
          <a:xfrm>
            <a:off x="1691640" y="3328415"/>
            <a:ext cx="2194561" cy="267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A78BF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TRACE ANALYZER</a:t>
            </a:r>
          </a:p>
        </p:txBody>
      </p:sp>
      <p:sp>
        <p:nvSpPr>
          <p:cNvPr id="209" name="TextBox 21"/>
          <p:cNvSpPr txBox="1"/>
          <p:nvPr/>
        </p:nvSpPr>
        <p:spPr>
          <a:xfrm>
            <a:off x="3977640" y="3346703"/>
            <a:ext cx="6766561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100">
                <a:solidFill>
                  <a:srgbClr val="B0C4C8"/>
                </a:solidFill>
              </a:defRPr>
            </a:lvl1pPr>
          </a:lstStyle>
          <a:p>
            <a:pPr/>
            <a:r>
              <a:t>Analyzes distributed traces from Jaeger, identifies latency bottlenecks, maps call paths</a:t>
            </a:r>
          </a:p>
        </p:txBody>
      </p:sp>
      <p:sp>
        <p:nvSpPr>
          <p:cNvPr id="210" name="Rectangle 22"/>
          <p:cNvSpPr/>
          <p:nvPr/>
        </p:nvSpPr>
        <p:spPr>
          <a:xfrm>
            <a:off x="731519" y="3968496"/>
            <a:ext cx="10515601" cy="5943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Rectangle 23"/>
          <p:cNvSpPr/>
          <p:nvPr/>
        </p:nvSpPr>
        <p:spPr>
          <a:xfrm>
            <a:off x="731519" y="3968496"/>
            <a:ext cx="54865" cy="594361"/>
          </a:xfrm>
          <a:prstGeom prst="rect">
            <a:avLst/>
          </a:prstGeom>
          <a:solidFill>
            <a:srgbClr val="F973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Oval 24"/>
          <p:cNvSpPr/>
          <p:nvPr/>
        </p:nvSpPr>
        <p:spPr>
          <a:xfrm>
            <a:off x="1005839" y="4041647"/>
            <a:ext cx="438913" cy="438913"/>
          </a:xfrm>
          <a:prstGeom prst="ellipse">
            <a:avLst/>
          </a:prstGeom>
          <a:solidFill>
            <a:srgbClr val="F973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TextBox 25"/>
          <p:cNvSpPr txBox="1"/>
          <p:nvPr/>
        </p:nvSpPr>
        <p:spPr>
          <a:xfrm>
            <a:off x="1051559" y="4069079"/>
            <a:ext cx="347473" cy="35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2100"/>
              </a:lnSpc>
              <a:defRPr b="1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</a:t>
            </a:r>
          </a:p>
        </p:txBody>
      </p:sp>
      <p:sp>
        <p:nvSpPr>
          <p:cNvPr id="214" name="TextBox 26"/>
          <p:cNvSpPr txBox="1"/>
          <p:nvPr/>
        </p:nvSpPr>
        <p:spPr>
          <a:xfrm>
            <a:off x="1691640" y="4041647"/>
            <a:ext cx="2194561" cy="267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K8s PROBE</a:t>
            </a:r>
          </a:p>
        </p:txBody>
      </p:sp>
      <p:sp>
        <p:nvSpPr>
          <p:cNvPr id="215" name="TextBox 27"/>
          <p:cNvSpPr txBox="1"/>
          <p:nvPr/>
        </p:nvSpPr>
        <p:spPr>
          <a:xfrm>
            <a:off x="3977640" y="4059935"/>
            <a:ext cx="6766561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100">
                <a:solidFill>
                  <a:srgbClr val="B0C4C8"/>
                </a:solidFill>
              </a:defRPr>
            </a:lvl1pPr>
          </a:lstStyle>
          <a:p>
            <a:pPr/>
            <a:r>
              <a:t>Analyzes pod health, OOM kills, crash loops, resource pressure, init container failures</a:t>
            </a:r>
          </a:p>
        </p:txBody>
      </p:sp>
      <p:sp>
        <p:nvSpPr>
          <p:cNvPr id="216" name="Rectangle 28"/>
          <p:cNvSpPr/>
          <p:nvPr/>
        </p:nvSpPr>
        <p:spPr>
          <a:xfrm>
            <a:off x="731519" y="4681728"/>
            <a:ext cx="10515601" cy="5943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Rectangle 29"/>
          <p:cNvSpPr/>
          <p:nvPr/>
        </p:nvSpPr>
        <p:spPr>
          <a:xfrm>
            <a:off x="731519" y="4681728"/>
            <a:ext cx="54865" cy="59436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Oval 30"/>
          <p:cNvSpPr/>
          <p:nvPr/>
        </p:nvSpPr>
        <p:spPr>
          <a:xfrm>
            <a:off x="1005839" y="4754879"/>
            <a:ext cx="438913" cy="438913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" name="TextBox 31"/>
          <p:cNvSpPr txBox="1"/>
          <p:nvPr/>
        </p:nvSpPr>
        <p:spPr>
          <a:xfrm>
            <a:off x="1051559" y="4782311"/>
            <a:ext cx="347473" cy="35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2100"/>
              </a:lnSpc>
              <a:defRPr b="1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220" name="TextBox 32"/>
          <p:cNvSpPr txBox="1"/>
          <p:nvPr/>
        </p:nvSpPr>
        <p:spPr>
          <a:xfrm>
            <a:off x="1691640" y="4754879"/>
            <a:ext cx="2194561" cy="267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CHANGE INTEL</a:t>
            </a:r>
          </a:p>
        </p:txBody>
      </p:sp>
      <p:sp>
        <p:nvSpPr>
          <p:cNvPr id="221" name="TextBox 33"/>
          <p:cNvSpPr txBox="1"/>
          <p:nvPr/>
        </p:nvSpPr>
        <p:spPr>
          <a:xfrm>
            <a:off x="3977640" y="4773167"/>
            <a:ext cx="6766561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100">
                <a:solidFill>
                  <a:srgbClr val="B0C4C8"/>
                </a:solidFill>
              </a:defRPr>
            </a:lvl1pPr>
          </a:lstStyle>
          <a:p>
            <a:pPr/>
            <a:r>
              <a:t>Correlates deployments, config changes, dependency updates with incident timeline</a:t>
            </a:r>
          </a:p>
        </p:txBody>
      </p:sp>
      <p:sp>
        <p:nvSpPr>
          <p:cNvPr id="222" name="Rectangle 34"/>
          <p:cNvSpPr/>
          <p:nvPr/>
        </p:nvSpPr>
        <p:spPr>
          <a:xfrm>
            <a:off x="731519" y="5394959"/>
            <a:ext cx="10515601" cy="5943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3" name="Rectangle 35"/>
          <p:cNvSpPr/>
          <p:nvPr/>
        </p:nvSpPr>
        <p:spPr>
          <a:xfrm>
            <a:off x="731519" y="5394959"/>
            <a:ext cx="54865" cy="594361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Oval 36"/>
          <p:cNvSpPr/>
          <p:nvPr/>
        </p:nvSpPr>
        <p:spPr>
          <a:xfrm>
            <a:off x="1005839" y="5468111"/>
            <a:ext cx="438913" cy="438913"/>
          </a:xfrm>
          <a:prstGeom prst="ellipse">
            <a:avLst/>
          </a:prstGeom>
          <a:solidFill>
            <a:srgbClr val="3B82F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TextBox 37"/>
          <p:cNvSpPr txBox="1"/>
          <p:nvPr/>
        </p:nvSpPr>
        <p:spPr>
          <a:xfrm>
            <a:off x="1051559" y="5495544"/>
            <a:ext cx="347473" cy="355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2100"/>
              </a:lnSpc>
              <a:defRPr b="1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226" name="TextBox 38"/>
          <p:cNvSpPr txBox="1"/>
          <p:nvPr/>
        </p:nvSpPr>
        <p:spPr>
          <a:xfrm>
            <a:off x="1691640" y="5468111"/>
            <a:ext cx="2194561" cy="267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CODE NAVIGATOR</a:t>
            </a:r>
          </a:p>
        </p:txBody>
      </p:sp>
      <p:sp>
        <p:nvSpPr>
          <p:cNvPr id="227" name="TextBox 39"/>
          <p:cNvSpPr txBox="1"/>
          <p:nvPr/>
        </p:nvSpPr>
        <p:spPr>
          <a:xfrm>
            <a:off x="3977640" y="5486399"/>
            <a:ext cx="6766561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sz="1100">
                <a:solidFill>
                  <a:srgbClr val="B0C4C8"/>
                </a:solidFill>
              </a:defRPr>
            </a:lvl1pPr>
          </a:lstStyle>
          <a:p>
            <a:pPr/>
            <a:r>
              <a:t>Analyzes source code, finds root cause file, builds call chains, generates dependency diagrams</a:t>
            </a:r>
          </a:p>
        </p:txBody>
      </p:sp>
      <p:sp>
        <p:nvSpPr>
          <p:cNvPr id="228" name="Rectangle 40"/>
          <p:cNvSpPr/>
          <p:nvPr/>
        </p:nvSpPr>
        <p:spPr>
          <a:xfrm>
            <a:off x="731519" y="6126479"/>
            <a:ext cx="10515601" cy="27433"/>
          </a:xfrm>
          <a:prstGeom prst="rect">
            <a:avLst/>
          </a:prstGeom>
          <a:solidFill>
            <a:srgbClr val="058AA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xtBox 41"/>
          <p:cNvSpPr txBox="1"/>
          <p:nvPr/>
        </p:nvSpPr>
        <p:spPr>
          <a:xfrm>
            <a:off x="777239" y="6217920"/>
            <a:ext cx="104241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000">
                <a:solidFill>
                  <a:srgbClr val="07B6D5"/>
                </a:solidFill>
              </a:defRPr>
            </a:pPr>
            <a:r>
              <a:t>SUPERVISOR</a:t>
            </a:r>
            <a:r>
              <a:rPr b="0">
                <a:solidFill>
                  <a:srgbClr val="6B8A92"/>
                </a:solidFill>
              </a:rPr>
              <a:t>  orchestrates agents &amp; manages state   |   </a:t>
            </a:r>
            <a:r>
              <a:t>CRITIC</a:t>
            </a:r>
            <a:r>
              <a:rPr b="0">
                <a:solidFill>
                  <a:srgbClr val="6B8A92"/>
                </a:solidFill>
              </a:rPr>
              <a:t>  validates &amp; challenges all findings   |   </a:t>
            </a:r>
            <a:r>
              <a:rPr>
                <a:solidFill>
                  <a:srgbClr val="F97316"/>
                </a:solidFill>
              </a:rPr>
              <a:t>REACT PATTERN</a:t>
            </a:r>
            <a:r>
              <a:rPr b="0">
                <a:solidFill>
                  <a:srgbClr val="6B8A92"/>
                </a:solidFill>
              </a:rPr>
              <a:t>  Reason → Act → Observe loop per agent</a:t>
            </a:r>
          </a:p>
        </p:txBody>
      </p:sp>
      <p:sp>
        <p:nvSpPr>
          <p:cNvPr id="230" name="Rectangle 42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TextBox 43"/>
          <p:cNvSpPr txBox="1"/>
          <p:nvPr/>
        </p:nvSpPr>
        <p:spPr>
          <a:xfrm>
            <a:off x="777239" y="6492240"/>
            <a:ext cx="4480561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sz="900">
                <a:solidFill>
                  <a:srgbClr val="3A5058"/>
                </a:solidFill>
              </a:defRPr>
            </a:lvl1pPr>
          </a:lstStyle>
          <a:p>
            <a:pPr/>
            <a:r>
              <a:t>Debug Duck  |  Autonomous SRE Platform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1"/>
          <p:cNvSpPr/>
          <p:nvPr/>
        </p:nvSpPr>
        <p:spPr>
          <a:xfrm>
            <a:off x="731519" y="457199"/>
            <a:ext cx="54865" cy="365762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2"/>
          <p:cNvSpPr txBox="1"/>
          <p:nvPr/>
        </p:nvSpPr>
        <p:spPr>
          <a:xfrm>
            <a:off x="978408" y="457199"/>
            <a:ext cx="35661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DIAGNOSIS FLOW</a:t>
            </a:r>
          </a:p>
        </p:txBody>
      </p:sp>
      <p:sp>
        <p:nvSpPr>
          <p:cNvPr id="235" name="TextBox 3"/>
          <p:cNvSpPr txBox="1"/>
          <p:nvPr/>
        </p:nvSpPr>
        <p:spPr>
          <a:xfrm>
            <a:off x="777239" y="1051560"/>
            <a:ext cx="996696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7-Phase Automated Diagnosis</a:t>
            </a:r>
          </a:p>
        </p:txBody>
      </p:sp>
      <p:sp>
        <p:nvSpPr>
          <p:cNvPr id="236" name="Oval 4"/>
          <p:cNvSpPr/>
          <p:nvPr/>
        </p:nvSpPr>
        <p:spPr>
          <a:xfrm>
            <a:off x="868680" y="1965960"/>
            <a:ext cx="347473" cy="347473"/>
          </a:xfrm>
          <a:prstGeom prst="ellipse">
            <a:avLst/>
          </a:prstGeom>
          <a:solidFill>
            <a:srgbClr val="6B8A9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TextBox 5"/>
          <p:cNvSpPr txBox="1"/>
          <p:nvPr/>
        </p:nvSpPr>
        <p:spPr>
          <a:xfrm>
            <a:off x="914400" y="1984248"/>
            <a:ext cx="256033" cy="29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600"/>
              </a:lnSpc>
              <a:defRPr b="1" sz="14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8" name="Rectangle 6"/>
          <p:cNvSpPr/>
          <p:nvPr/>
        </p:nvSpPr>
        <p:spPr>
          <a:xfrm>
            <a:off x="1024127" y="2313432"/>
            <a:ext cx="36577" cy="182881"/>
          </a:xfrm>
          <a:prstGeom prst="rect">
            <a:avLst/>
          </a:prstGeom>
          <a:solidFill>
            <a:srgbClr val="3A505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7"/>
          <p:cNvSpPr txBox="1"/>
          <p:nvPr/>
        </p:nvSpPr>
        <p:spPr>
          <a:xfrm>
            <a:off x="1463040" y="1938527"/>
            <a:ext cx="1920239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6B8A9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SESSION INIT</a:t>
            </a:r>
          </a:p>
        </p:txBody>
      </p:sp>
      <p:sp>
        <p:nvSpPr>
          <p:cNvPr id="240" name="TextBox 8"/>
          <p:cNvSpPr txBox="1"/>
          <p:nvPr/>
        </p:nvSpPr>
        <p:spPr>
          <a:xfrm>
            <a:off x="3520440" y="1956816"/>
            <a:ext cx="768096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User provides service name + time window</a:t>
            </a:r>
          </a:p>
        </p:txBody>
      </p:sp>
      <p:sp>
        <p:nvSpPr>
          <p:cNvPr id="241" name="Oval 9"/>
          <p:cNvSpPr/>
          <p:nvPr/>
        </p:nvSpPr>
        <p:spPr>
          <a:xfrm>
            <a:off x="868680" y="2514599"/>
            <a:ext cx="347473" cy="347474"/>
          </a:xfrm>
          <a:prstGeom prst="ellipse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TextBox 10"/>
          <p:cNvSpPr txBox="1"/>
          <p:nvPr/>
        </p:nvSpPr>
        <p:spPr>
          <a:xfrm>
            <a:off x="914400" y="2532888"/>
            <a:ext cx="256033" cy="29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600"/>
              </a:lnSpc>
              <a:defRPr b="1" sz="14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43" name="Rectangle 11"/>
          <p:cNvSpPr/>
          <p:nvPr/>
        </p:nvSpPr>
        <p:spPr>
          <a:xfrm>
            <a:off x="1024127" y="2862072"/>
            <a:ext cx="36577" cy="182881"/>
          </a:xfrm>
          <a:prstGeom prst="rect">
            <a:avLst/>
          </a:prstGeom>
          <a:solidFill>
            <a:srgbClr val="3A505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TextBox 12"/>
          <p:cNvSpPr txBox="1"/>
          <p:nvPr/>
        </p:nvSpPr>
        <p:spPr>
          <a:xfrm>
            <a:off x="1463040" y="2487167"/>
            <a:ext cx="1920239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LOG ANALYSIS</a:t>
            </a:r>
          </a:p>
        </p:txBody>
      </p:sp>
      <p:sp>
        <p:nvSpPr>
          <p:cNvPr id="245" name="TextBox 13"/>
          <p:cNvSpPr txBox="1"/>
          <p:nvPr/>
        </p:nvSpPr>
        <p:spPr>
          <a:xfrm>
            <a:off x="3520440" y="2505455"/>
            <a:ext cx="768096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Search Elasticsearch, find patterns, detect Patient Zero</a:t>
            </a:r>
          </a:p>
        </p:txBody>
      </p:sp>
      <p:sp>
        <p:nvSpPr>
          <p:cNvPr id="246" name="Oval 14"/>
          <p:cNvSpPr/>
          <p:nvPr/>
        </p:nvSpPr>
        <p:spPr>
          <a:xfrm>
            <a:off x="868680" y="3063238"/>
            <a:ext cx="347473" cy="347473"/>
          </a:xfrm>
          <a:prstGeom prst="ellipse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TextBox 15"/>
          <p:cNvSpPr txBox="1"/>
          <p:nvPr/>
        </p:nvSpPr>
        <p:spPr>
          <a:xfrm>
            <a:off x="914400" y="3081527"/>
            <a:ext cx="256033" cy="29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600"/>
              </a:lnSpc>
              <a:defRPr b="1" sz="14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48" name="Rectangle 16"/>
          <p:cNvSpPr/>
          <p:nvPr/>
        </p:nvSpPr>
        <p:spPr>
          <a:xfrm>
            <a:off x="1024127" y="3410711"/>
            <a:ext cx="36577" cy="182881"/>
          </a:xfrm>
          <a:prstGeom prst="rect">
            <a:avLst/>
          </a:prstGeom>
          <a:solidFill>
            <a:srgbClr val="3A505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TextBox 17"/>
          <p:cNvSpPr txBox="1"/>
          <p:nvPr/>
        </p:nvSpPr>
        <p:spPr>
          <a:xfrm>
            <a:off x="1463040" y="3035807"/>
            <a:ext cx="1920239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PARALLEL TELEMETRY</a:t>
            </a:r>
          </a:p>
        </p:txBody>
      </p:sp>
      <p:sp>
        <p:nvSpPr>
          <p:cNvPr id="250" name="TextBox 18"/>
          <p:cNvSpPr txBox="1"/>
          <p:nvPr/>
        </p:nvSpPr>
        <p:spPr>
          <a:xfrm>
            <a:off x="3520440" y="3054095"/>
            <a:ext cx="768096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Metrics + Traces + K8s health via asyncio.gather()</a:t>
            </a:r>
          </a:p>
        </p:txBody>
      </p:sp>
      <p:sp>
        <p:nvSpPr>
          <p:cNvPr id="251" name="Oval 19"/>
          <p:cNvSpPr/>
          <p:nvPr/>
        </p:nvSpPr>
        <p:spPr>
          <a:xfrm>
            <a:off x="868680" y="3611879"/>
            <a:ext cx="347473" cy="347473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TextBox 20"/>
          <p:cNvSpPr txBox="1"/>
          <p:nvPr/>
        </p:nvSpPr>
        <p:spPr>
          <a:xfrm>
            <a:off x="914400" y="3630167"/>
            <a:ext cx="256033" cy="293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600"/>
              </a:lnSpc>
              <a:defRPr b="1" sz="14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53" name="Rectangle 21"/>
          <p:cNvSpPr/>
          <p:nvPr/>
        </p:nvSpPr>
        <p:spPr>
          <a:xfrm>
            <a:off x="1024127" y="3959352"/>
            <a:ext cx="36577" cy="182881"/>
          </a:xfrm>
          <a:prstGeom prst="rect">
            <a:avLst/>
          </a:prstGeom>
          <a:solidFill>
            <a:srgbClr val="3A505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22"/>
          <p:cNvSpPr txBox="1"/>
          <p:nvPr/>
        </p:nvSpPr>
        <p:spPr>
          <a:xfrm>
            <a:off x="1463040" y="3584447"/>
            <a:ext cx="1920239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REASONING CHAIN</a:t>
            </a:r>
          </a:p>
        </p:txBody>
      </p:sp>
      <p:sp>
        <p:nvSpPr>
          <p:cNvPr id="255" name="TextBox 23"/>
          <p:cNvSpPr txBox="1"/>
          <p:nvPr/>
        </p:nvSpPr>
        <p:spPr>
          <a:xfrm>
            <a:off x="3520440" y="3602735"/>
            <a:ext cx="768096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Cross-agent correlation, causal graph construction</a:t>
            </a:r>
          </a:p>
        </p:txBody>
      </p:sp>
      <p:sp>
        <p:nvSpPr>
          <p:cNvPr id="256" name="Oval 24"/>
          <p:cNvSpPr/>
          <p:nvPr/>
        </p:nvSpPr>
        <p:spPr>
          <a:xfrm>
            <a:off x="868680" y="4160520"/>
            <a:ext cx="347473" cy="347473"/>
          </a:xfrm>
          <a:prstGeom prst="ellipse">
            <a:avLst/>
          </a:prstGeom>
          <a:solidFill>
            <a:srgbClr val="3B82F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TextBox 25"/>
          <p:cNvSpPr txBox="1"/>
          <p:nvPr/>
        </p:nvSpPr>
        <p:spPr>
          <a:xfrm>
            <a:off x="914400" y="4178808"/>
            <a:ext cx="256033" cy="29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600"/>
              </a:lnSpc>
              <a:defRPr b="1" sz="14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58" name="Rectangle 26"/>
          <p:cNvSpPr/>
          <p:nvPr/>
        </p:nvSpPr>
        <p:spPr>
          <a:xfrm>
            <a:off x="1024127" y="4507991"/>
            <a:ext cx="36577" cy="182881"/>
          </a:xfrm>
          <a:prstGeom prst="rect">
            <a:avLst/>
          </a:prstGeom>
          <a:solidFill>
            <a:srgbClr val="3A505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TextBox 27"/>
          <p:cNvSpPr txBox="1"/>
          <p:nvPr/>
        </p:nvSpPr>
        <p:spPr>
          <a:xfrm>
            <a:off x="1463040" y="4133086"/>
            <a:ext cx="1920239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CODE ANALYSIS</a:t>
            </a:r>
          </a:p>
        </p:txBody>
      </p:sp>
      <p:sp>
        <p:nvSpPr>
          <p:cNvPr id="260" name="TextBox 28"/>
          <p:cNvSpPr txBox="1"/>
          <p:nvPr/>
        </p:nvSpPr>
        <p:spPr>
          <a:xfrm>
            <a:off x="3520440" y="4151376"/>
            <a:ext cx="768096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Trace root cause in source code, build call chains</a:t>
            </a:r>
          </a:p>
        </p:txBody>
      </p:sp>
      <p:sp>
        <p:nvSpPr>
          <p:cNvPr id="261" name="Oval 29"/>
          <p:cNvSpPr/>
          <p:nvPr/>
        </p:nvSpPr>
        <p:spPr>
          <a:xfrm>
            <a:off x="868680" y="4709159"/>
            <a:ext cx="347473" cy="347473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30"/>
          <p:cNvSpPr txBox="1"/>
          <p:nvPr/>
        </p:nvSpPr>
        <p:spPr>
          <a:xfrm>
            <a:off x="914400" y="4727447"/>
            <a:ext cx="256033" cy="293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600"/>
              </a:lnSpc>
              <a:defRPr b="1" sz="14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63" name="Rectangle 31"/>
          <p:cNvSpPr/>
          <p:nvPr/>
        </p:nvSpPr>
        <p:spPr>
          <a:xfrm>
            <a:off x="1024127" y="5056630"/>
            <a:ext cx="36577" cy="182881"/>
          </a:xfrm>
          <a:prstGeom prst="rect">
            <a:avLst/>
          </a:prstGeom>
          <a:solidFill>
            <a:srgbClr val="3A505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32"/>
          <p:cNvSpPr txBox="1"/>
          <p:nvPr/>
        </p:nvSpPr>
        <p:spPr>
          <a:xfrm>
            <a:off x="1463040" y="4681727"/>
            <a:ext cx="1920239" cy="254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A78BF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CRITIC VALIDATION</a:t>
            </a:r>
          </a:p>
        </p:txBody>
      </p:sp>
      <p:sp>
        <p:nvSpPr>
          <p:cNvPr id="265" name="TextBox 33"/>
          <p:cNvSpPr txBox="1"/>
          <p:nvPr/>
        </p:nvSpPr>
        <p:spPr>
          <a:xfrm>
            <a:off x="3520440" y="4700015"/>
            <a:ext cx="768096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Challenge findings, verify evidence, score confidence</a:t>
            </a:r>
          </a:p>
        </p:txBody>
      </p:sp>
      <p:sp>
        <p:nvSpPr>
          <p:cNvPr id="266" name="Oval 34"/>
          <p:cNvSpPr/>
          <p:nvPr/>
        </p:nvSpPr>
        <p:spPr>
          <a:xfrm>
            <a:off x="868680" y="5257798"/>
            <a:ext cx="347473" cy="347473"/>
          </a:xfrm>
          <a:prstGeom prst="ellipse">
            <a:avLst/>
          </a:prstGeom>
          <a:solidFill>
            <a:srgbClr val="F973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TextBox 35"/>
          <p:cNvSpPr txBox="1"/>
          <p:nvPr/>
        </p:nvSpPr>
        <p:spPr>
          <a:xfrm>
            <a:off x="914400" y="5276088"/>
            <a:ext cx="256033" cy="29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600"/>
              </a:lnSpc>
              <a:defRPr b="1" sz="14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68" name="Rectangle 36"/>
          <p:cNvSpPr/>
          <p:nvPr/>
        </p:nvSpPr>
        <p:spPr>
          <a:xfrm>
            <a:off x="1024127" y="5605271"/>
            <a:ext cx="36577" cy="182881"/>
          </a:xfrm>
          <a:prstGeom prst="rect">
            <a:avLst/>
          </a:prstGeom>
          <a:solidFill>
            <a:srgbClr val="3A505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TextBox 37"/>
          <p:cNvSpPr txBox="1"/>
          <p:nvPr/>
        </p:nvSpPr>
        <p:spPr>
          <a:xfrm>
            <a:off x="1463040" y="5230367"/>
            <a:ext cx="1920239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HUMAN GATE</a:t>
            </a:r>
          </a:p>
        </p:txBody>
      </p:sp>
      <p:sp>
        <p:nvSpPr>
          <p:cNvPr id="270" name="TextBox 38"/>
          <p:cNvSpPr txBox="1"/>
          <p:nvPr/>
        </p:nvSpPr>
        <p:spPr>
          <a:xfrm>
            <a:off x="3520440" y="5248654"/>
            <a:ext cx="768096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Attestation checkpoint — human reviews before fix</a:t>
            </a:r>
          </a:p>
        </p:txBody>
      </p:sp>
      <p:sp>
        <p:nvSpPr>
          <p:cNvPr id="271" name="Oval 39"/>
          <p:cNvSpPr/>
          <p:nvPr/>
        </p:nvSpPr>
        <p:spPr>
          <a:xfrm>
            <a:off x="868680" y="5806440"/>
            <a:ext cx="347473" cy="347473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TextBox 40"/>
          <p:cNvSpPr txBox="1"/>
          <p:nvPr/>
        </p:nvSpPr>
        <p:spPr>
          <a:xfrm>
            <a:off x="914400" y="5824728"/>
            <a:ext cx="256033" cy="29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600"/>
              </a:lnSpc>
              <a:defRPr b="1" sz="14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73" name="TextBox 41"/>
          <p:cNvSpPr txBox="1"/>
          <p:nvPr/>
        </p:nvSpPr>
        <p:spPr>
          <a:xfrm>
            <a:off x="1463040" y="5779008"/>
            <a:ext cx="1920239" cy="254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FIX + PR</a:t>
            </a:r>
          </a:p>
        </p:txBody>
      </p:sp>
      <p:sp>
        <p:nvSpPr>
          <p:cNvPr id="274" name="TextBox 42"/>
          <p:cNvSpPr txBox="1"/>
          <p:nvPr/>
        </p:nvSpPr>
        <p:spPr>
          <a:xfrm>
            <a:off x="3520440" y="5797296"/>
            <a:ext cx="768096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Generate multi-file fix, create PR with full context</a:t>
            </a:r>
          </a:p>
        </p:txBody>
      </p:sp>
      <p:sp>
        <p:nvSpPr>
          <p:cNvPr id="275" name="Rectangle 43"/>
          <p:cNvSpPr/>
          <p:nvPr/>
        </p:nvSpPr>
        <p:spPr>
          <a:xfrm>
            <a:off x="8046719" y="1920239"/>
            <a:ext cx="3383281" cy="210312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Rectangle 44"/>
          <p:cNvSpPr/>
          <p:nvPr/>
        </p:nvSpPr>
        <p:spPr>
          <a:xfrm>
            <a:off x="8046719" y="1920239"/>
            <a:ext cx="3383281" cy="45721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TextBox 45"/>
          <p:cNvSpPr txBox="1"/>
          <p:nvPr/>
        </p:nvSpPr>
        <p:spPr>
          <a:xfrm>
            <a:off x="8366760" y="2148839"/>
            <a:ext cx="2743201" cy="267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DIAGNOSIS OUTPUT</a:t>
            </a:r>
          </a:p>
        </p:txBody>
      </p:sp>
      <p:sp>
        <p:nvSpPr>
          <p:cNvPr id="278" name="TextBox 46"/>
          <p:cNvSpPr txBox="1"/>
          <p:nvPr/>
        </p:nvSpPr>
        <p:spPr>
          <a:xfrm>
            <a:off x="8366760" y="2560320"/>
            <a:ext cx="2743201" cy="1250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07B6D5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Root cause identification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07B6D5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Confidence score per finding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07B6D5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Full reasoning chain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07B6D5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Patient Zero service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07B6D5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Blast radius map</a:t>
            </a:r>
          </a:p>
        </p:txBody>
      </p:sp>
      <p:sp>
        <p:nvSpPr>
          <p:cNvPr id="279" name="Rectangle 47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TextBox 48"/>
          <p:cNvSpPr txBox="1"/>
          <p:nvPr/>
        </p:nvSpPr>
        <p:spPr>
          <a:xfrm>
            <a:off x="777239" y="6492240"/>
            <a:ext cx="4480561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sz="900">
                <a:solidFill>
                  <a:srgbClr val="3A5058"/>
                </a:solidFill>
              </a:defRPr>
            </a:lvl1pPr>
          </a:lstStyle>
          <a:p>
            <a:pPr/>
            <a:r>
              <a:t>Debug Duck  |  Autonomous SRE Platform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angle 1"/>
          <p:cNvSpPr/>
          <p:nvPr/>
        </p:nvSpPr>
        <p:spPr>
          <a:xfrm>
            <a:off x="731519" y="457199"/>
            <a:ext cx="54865" cy="365762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TextBox 2"/>
          <p:cNvSpPr txBox="1"/>
          <p:nvPr/>
        </p:nvSpPr>
        <p:spPr>
          <a:xfrm>
            <a:off x="978408" y="457199"/>
            <a:ext cx="35661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LIVE SCENARIO</a:t>
            </a:r>
          </a:p>
        </p:txBody>
      </p:sp>
      <p:sp>
        <p:nvSpPr>
          <p:cNvPr id="284" name="TextBox 3"/>
          <p:cNvSpPr txBox="1"/>
          <p:nvPr/>
        </p:nvSpPr>
        <p:spPr>
          <a:xfrm>
            <a:off x="777239" y="1051560"/>
            <a:ext cx="996696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SEV-1: E-Commerce Checkout Failure</a:t>
            </a:r>
          </a:p>
        </p:txBody>
      </p:sp>
      <p:sp>
        <p:nvSpPr>
          <p:cNvPr id="285" name="Rectangle 4"/>
          <p:cNvSpPr/>
          <p:nvPr/>
        </p:nvSpPr>
        <p:spPr>
          <a:xfrm>
            <a:off x="731519" y="1920239"/>
            <a:ext cx="10515601" cy="64008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Rectangle 5"/>
          <p:cNvSpPr/>
          <p:nvPr/>
        </p:nvSpPr>
        <p:spPr>
          <a:xfrm>
            <a:off x="731519" y="1920239"/>
            <a:ext cx="54865" cy="640081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TextBox 6"/>
          <p:cNvSpPr txBox="1"/>
          <p:nvPr/>
        </p:nvSpPr>
        <p:spPr>
          <a:xfrm>
            <a:off x="1097280" y="2011679"/>
            <a:ext cx="9509761" cy="285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sz="1300">
                <a:solidFill>
                  <a:srgbClr val="B0C4C8"/>
                </a:solidFill>
              </a:defRPr>
            </a:lvl1pPr>
          </a:lstStyle>
          <a:p>
            <a:pPr/>
            <a:r>
              <a:t>Multiple users reporting failed checkouts and extreme slowness. Checkout-frontend showing 88.9% error rate and 10.3s latency.</a:t>
            </a:r>
          </a:p>
        </p:txBody>
      </p:sp>
      <p:sp>
        <p:nvSpPr>
          <p:cNvPr id="288" name="TextBox 7"/>
          <p:cNvSpPr txBox="1"/>
          <p:nvPr/>
        </p:nvSpPr>
        <p:spPr>
          <a:xfrm>
            <a:off x="777239" y="2834639"/>
            <a:ext cx="99669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SERVICE TOPOLOGY</a:t>
            </a:r>
          </a:p>
        </p:txBody>
      </p:sp>
      <p:sp>
        <p:nvSpPr>
          <p:cNvPr id="289" name="Rectangle 8"/>
          <p:cNvSpPr/>
          <p:nvPr/>
        </p:nvSpPr>
        <p:spPr>
          <a:xfrm>
            <a:off x="731519" y="3291840"/>
            <a:ext cx="2560322" cy="146304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Rectangle 9"/>
          <p:cNvSpPr/>
          <p:nvPr/>
        </p:nvSpPr>
        <p:spPr>
          <a:xfrm>
            <a:off x="731519" y="3291840"/>
            <a:ext cx="2560322" cy="45721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TextBox 10"/>
          <p:cNvSpPr txBox="1"/>
          <p:nvPr/>
        </p:nvSpPr>
        <p:spPr>
          <a:xfrm>
            <a:off x="960119" y="3474720"/>
            <a:ext cx="2103122" cy="26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checkout-frontend</a:t>
            </a:r>
          </a:p>
        </p:txBody>
      </p:sp>
      <p:sp>
        <p:nvSpPr>
          <p:cNvPr id="292" name="TextBox 11"/>
          <p:cNvSpPr txBox="1"/>
          <p:nvPr/>
        </p:nvSpPr>
        <p:spPr>
          <a:xfrm>
            <a:off x="960119" y="3794759"/>
            <a:ext cx="2103122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b="1" sz="900">
                <a:solidFill>
                  <a:srgbClr val="EF4444"/>
                </a:solidFill>
              </a:defRPr>
            </a:lvl1pPr>
          </a:lstStyle>
          <a:p>
            <a:pPr/>
            <a:r>
              <a:t>PATIENT ZERO</a:t>
            </a:r>
          </a:p>
        </p:txBody>
      </p:sp>
      <p:sp>
        <p:nvSpPr>
          <p:cNvPr id="293" name="TextBox 12"/>
          <p:cNvSpPr txBox="1"/>
          <p:nvPr/>
        </p:nvSpPr>
        <p:spPr>
          <a:xfrm>
            <a:off x="960119" y="4114800"/>
            <a:ext cx="2103122" cy="549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200"/>
              </a:lnSpc>
              <a:defRPr sz="1000">
                <a:solidFill>
                  <a:srgbClr val="B0C4C8"/>
                </a:solidFill>
              </a:defRPr>
            </a:pPr>
            <a:r>
              <a:t>88.9% error rate</a:t>
            </a:r>
            <a:br/>
            <a:r>
              <a:t>10.3s latency</a:t>
            </a:r>
            <a:br/>
            <a:r>
              <a:t>2,847 requests</a:t>
            </a:r>
          </a:p>
        </p:txBody>
      </p:sp>
      <p:sp>
        <p:nvSpPr>
          <p:cNvPr id="294" name="TextBox 13"/>
          <p:cNvSpPr txBox="1"/>
          <p:nvPr/>
        </p:nvSpPr>
        <p:spPr>
          <a:xfrm>
            <a:off x="3383279" y="3749038"/>
            <a:ext cx="365761" cy="452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2800"/>
              </a:lnSpc>
              <a:defRPr sz="2400">
                <a:solidFill>
                  <a:srgbClr val="058AA0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95" name="Rectangle 14"/>
          <p:cNvSpPr/>
          <p:nvPr/>
        </p:nvSpPr>
        <p:spPr>
          <a:xfrm>
            <a:off x="3840479" y="3291840"/>
            <a:ext cx="2560321" cy="146304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Rectangle 15"/>
          <p:cNvSpPr/>
          <p:nvPr/>
        </p:nvSpPr>
        <p:spPr>
          <a:xfrm>
            <a:off x="3840479" y="3291840"/>
            <a:ext cx="2560321" cy="45721"/>
          </a:xfrm>
          <a:prstGeom prst="rect">
            <a:avLst/>
          </a:prstGeom>
          <a:solidFill>
            <a:srgbClr val="F973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TextBox 16"/>
          <p:cNvSpPr txBox="1"/>
          <p:nvPr/>
        </p:nvSpPr>
        <p:spPr>
          <a:xfrm>
            <a:off x="4069079" y="3474720"/>
            <a:ext cx="2103121" cy="26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checkout-service</a:t>
            </a:r>
          </a:p>
        </p:txBody>
      </p:sp>
      <p:sp>
        <p:nvSpPr>
          <p:cNvPr id="298" name="TextBox 17"/>
          <p:cNvSpPr txBox="1"/>
          <p:nvPr/>
        </p:nvSpPr>
        <p:spPr>
          <a:xfrm>
            <a:off x="4069079" y="3794759"/>
            <a:ext cx="2103121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b="1" sz="900">
                <a:solidFill>
                  <a:srgbClr val="F97316"/>
                </a:solidFill>
              </a:defRPr>
            </a:lvl1pPr>
          </a:lstStyle>
          <a:p>
            <a:pPr/>
            <a:r>
              <a:t>DEGRADED</a:t>
            </a:r>
          </a:p>
        </p:txBody>
      </p:sp>
      <p:sp>
        <p:nvSpPr>
          <p:cNvPr id="299" name="TextBox 18"/>
          <p:cNvSpPr txBox="1"/>
          <p:nvPr/>
        </p:nvSpPr>
        <p:spPr>
          <a:xfrm>
            <a:off x="4069079" y="4114800"/>
            <a:ext cx="2103121" cy="549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200"/>
              </a:lnSpc>
              <a:defRPr sz="1000">
                <a:solidFill>
                  <a:srgbClr val="B0C4C8"/>
                </a:solidFill>
              </a:defRPr>
            </a:pPr>
            <a:r>
              <a:t>1.23% error rate</a:t>
            </a:r>
            <a:br/>
            <a:r>
              <a:t>7.18s latency</a:t>
            </a:r>
            <a:br/>
            <a:r>
              <a:t>5,612 requests</a:t>
            </a:r>
          </a:p>
        </p:txBody>
      </p:sp>
      <p:sp>
        <p:nvSpPr>
          <p:cNvPr id="300" name="TextBox 19"/>
          <p:cNvSpPr txBox="1"/>
          <p:nvPr/>
        </p:nvSpPr>
        <p:spPr>
          <a:xfrm>
            <a:off x="6492240" y="3749038"/>
            <a:ext cx="365761" cy="452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2800"/>
              </a:lnSpc>
              <a:defRPr sz="2400">
                <a:solidFill>
                  <a:srgbClr val="058AA0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01" name="Rectangle 20"/>
          <p:cNvSpPr/>
          <p:nvPr/>
        </p:nvSpPr>
        <p:spPr>
          <a:xfrm>
            <a:off x="6949440" y="2743199"/>
            <a:ext cx="2286001" cy="731522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Rectangle 21"/>
          <p:cNvSpPr/>
          <p:nvPr/>
        </p:nvSpPr>
        <p:spPr>
          <a:xfrm>
            <a:off x="6949440" y="2743199"/>
            <a:ext cx="45721" cy="731522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TextBox 22"/>
          <p:cNvSpPr txBox="1"/>
          <p:nvPr/>
        </p:nvSpPr>
        <p:spPr>
          <a:xfrm>
            <a:off x="7223760" y="2852927"/>
            <a:ext cx="1828801" cy="2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b="1" sz="10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payment-service</a:t>
            </a:r>
          </a:p>
        </p:txBody>
      </p:sp>
      <p:sp>
        <p:nvSpPr>
          <p:cNvPr id="304" name="TextBox 23"/>
          <p:cNvSpPr txBox="1"/>
          <p:nvPr/>
        </p:nvSpPr>
        <p:spPr>
          <a:xfrm>
            <a:off x="7223760" y="3127248"/>
            <a:ext cx="1828801" cy="20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900"/>
              </a:lnSpc>
              <a:defRPr sz="800">
                <a:solidFill>
                  <a:srgbClr val="10B981"/>
                </a:solidFill>
              </a:defRPr>
            </a:lvl1pPr>
          </a:lstStyle>
          <a:p>
            <a:pPr/>
            <a:r>
              <a:t>HEALTHY</a:t>
            </a:r>
          </a:p>
        </p:txBody>
      </p:sp>
      <p:sp>
        <p:nvSpPr>
          <p:cNvPr id="305" name="Rectangle 24"/>
          <p:cNvSpPr/>
          <p:nvPr/>
        </p:nvSpPr>
        <p:spPr>
          <a:xfrm>
            <a:off x="6949440" y="3703320"/>
            <a:ext cx="2286001" cy="73152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Rectangle 25"/>
          <p:cNvSpPr/>
          <p:nvPr/>
        </p:nvSpPr>
        <p:spPr>
          <a:xfrm>
            <a:off x="6949440" y="3703320"/>
            <a:ext cx="45721" cy="73152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26"/>
          <p:cNvSpPr txBox="1"/>
          <p:nvPr/>
        </p:nvSpPr>
        <p:spPr>
          <a:xfrm>
            <a:off x="7223760" y="3813047"/>
            <a:ext cx="1828801" cy="2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b="1" sz="10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inventory-service</a:t>
            </a:r>
          </a:p>
        </p:txBody>
      </p:sp>
      <p:sp>
        <p:nvSpPr>
          <p:cNvPr id="308" name="TextBox 27"/>
          <p:cNvSpPr txBox="1"/>
          <p:nvPr/>
        </p:nvSpPr>
        <p:spPr>
          <a:xfrm>
            <a:off x="7223760" y="4087367"/>
            <a:ext cx="1828801" cy="20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900"/>
              </a:lnSpc>
              <a:defRPr sz="800">
                <a:solidFill>
                  <a:srgbClr val="10B981"/>
                </a:solidFill>
              </a:defRPr>
            </a:lvl1pPr>
          </a:lstStyle>
          <a:p>
            <a:pPr/>
            <a:r>
              <a:t>HEALTHY</a:t>
            </a:r>
          </a:p>
        </p:txBody>
      </p:sp>
      <p:sp>
        <p:nvSpPr>
          <p:cNvPr id="309" name="Rectangle 28"/>
          <p:cNvSpPr/>
          <p:nvPr/>
        </p:nvSpPr>
        <p:spPr>
          <a:xfrm>
            <a:off x="6949440" y="4663440"/>
            <a:ext cx="2286001" cy="73152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Rectangle 29"/>
          <p:cNvSpPr/>
          <p:nvPr/>
        </p:nvSpPr>
        <p:spPr>
          <a:xfrm>
            <a:off x="6949440" y="4663440"/>
            <a:ext cx="45721" cy="73152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TextBox 30"/>
          <p:cNvSpPr txBox="1"/>
          <p:nvPr/>
        </p:nvSpPr>
        <p:spPr>
          <a:xfrm>
            <a:off x="7223760" y="4773167"/>
            <a:ext cx="1828801" cy="2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b="1" sz="10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notification-service</a:t>
            </a:r>
          </a:p>
        </p:txBody>
      </p:sp>
      <p:sp>
        <p:nvSpPr>
          <p:cNvPr id="312" name="TextBox 31"/>
          <p:cNvSpPr txBox="1"/>
          <p:nvPr/>
        </p:nvSpPr>
        <p:spPr>
          <a:xfrm>
            <a:off x="7223760" y="5047488"/>
            <a:ext cx="1828801" cy="20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900"/>
              </a:lnSpc>
              <a:defRPr sz="800">
                <a:solidFill>
                  <a:srgbClr val="10B981"/>
                </a:solidFill>
              </a:defRPr>
            </a:lvl1pPr>
          </a:lstStyle>
          <a:p>
            <a:pPr/>
            <a:r>
              <a:t>HEALTHY</a:t>
            </a:r>
          </a:p>
        </p:txBody>
      </p:sp>
      <p:sp>
        <p:nvSpPr>
          <p:cNvPr id="313" name="Rectangle 32"/>
          <p:cNvSpPr/>
          <p:nvPr/>
        </p:nvSpPr>
        <p:spPr>
          <a:xfrm>
            <a:off x="6949440" y="5623559"/>
            <a:ext cx="2286001" cy="73152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Rectangle 33"/>
          <p:cNvSpPr/>
          <p:nvPr/>
        </p:nvSpPr>
        <p:spPr>
          <a:xfrm>
            <a:off x="6949440" y="5623559"/>
            <a:ext cx="45721" cy="73152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TextBox 34"/>
          <p:cNvSpPr txBox="1"/>
          <p:nvPr/>
        </p:nvSpPr>
        <p:spPr>
          <a:xfrm>
            <a:off x="7223760" y="5733288"/>
            <a:ext cx="1828801" cy="241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b="1" sz="10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user-service</a:t>
            </a:r>
          </a:p>
        </p:txBody>
      </p:sp>
      <p:sp>
        <p:nvSpPr>
          <p:cNvPr id="316" name="TextBox 35"/>
          <p:cNvSpPr txBox="1"/>
          <p:nvPr/>
        </p:nvSpPr>
        <p:spPr>
          <a:xfrm>
            <a:off x="7223760" y="6007608"/>
            <a:ext cx="1828801" cy="20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900"/>
              </a:lnSpc>
              <a:defRPr sz="800">
                <a:solidFill>
                  <a:srgbClr val="10B981"/>
                </a:solidFill>
              </a:defRPr>
            </a:lvl1pPr>
          </a:lstStyle>
          <a:p>
            <a:pPr/>
            <a:r>
              <a:t>HEALTHY</a:t>
            </a:r>
          </a:p>
        </p:txBody>
      </p:sp>
      <p:sp>
        <p:nvSpPr>
          <p:cNvPr id="317" name="Rectangle 36"/>
          <p:cNvSpPr/>
          <p:nvPr/>
        </p:nvSpPr>
        <p:spPr>
          <a:xfrm>
            <a:off x="9509759" y="2880360"/>
            <a:ext cx="2286001" cy="109728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Rectangle 37"/>
          <p:cNvSpPr/>
          <p:nvPr/>
        </p:nvSpPr>
        <p:spPr>
          <a:xfrm>
            <a:off x="9509759" y="2880360"/>
            <a:ext cx="2286001" cy="36577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TextBox 38"/>
          <p:cNvSpPr txBox="1"/>
          <p:nvPr/>
        </p:nvSpPr>
        <p:spPr>
          <a:xfrm>
            <a:off x="9738360" y="3017520"/>
            <a:ext cx="1828801" cy="241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b="1" sz="1000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Symptoms</a:t>
            </a:r>
          </a:p>
        </p:txBody>
      </p:sp>
      <p:sp>
        <p:nvSpPr>
          <p:cNvPr id="320" name="TextBox 39"/>
          <p:cNvSpPr txBox="1"/>
          <p:nvPr/>
        </p:nvSpPr>
        <p:spPr>
          <a:xfrm>
            <a:off x="9738360" y="3291840"/>
            <a:ext cx="1828801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100"/>
              </a:lnSpc>
              <a:defRPr sz="900">
                <a:solidFill>
                  <a:srgbClr val="B0C4C8"/>
                </a:solidFill>
              </a:defRPr>
            </a:pPr>
            <a:r>
              <a:t>Failed checkouts,</a:t>
            </a:r>
            <a:br/>
            <a:r>
              <a:t>timeout errors, slow</a:t>
            </a:r>
            <a:br/>
            <a:r>
              <a:t>page loads</a:t>
            </a:r>
          </a:p>
        </p:txBody>
      </p:sp>
      <p:sp>
        <p:nvSpPr>
          <p:cNvPr id="321" name="Rectangle 40"/>
          <p:cNvSpPr/>
          <p:nvPr/>
        </p:nvSpPr>
        <p:spPr>
          <a:xfrm>
            <a:off x="9509759" y="4160520"/>
            <a:ext cx="2286001" cy="109728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Rectangle 41"/>
          <p:cNvSpPr/>
          <p:nvPr/>
        </p:nvSpPr>
        <p:spPr>
          <a:xfrm>
            <a:off x="9509759" y="4160520"/>
            <a:ext cx="2286001" cy="36577"/>
          </a:xfrm>
          <a:prstGeom prst="rect">
            <a:avLst/>
          </a:prstGeom>
          <a:solidFill>
            <a:srgbClr val="F973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TextBox 42"/>
          <p:cNvSpPr txBox="1"/>
          <p:nvPr/>
        </p:nvSpPr>
        <p:spPr>
          <a:xfrm>
            <a:off x="9738360" y="4297679"/>
            <a:ext cx="1828801" cy="2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b="1" sz="1000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Impact</a:t>
            </a:r>
          </a:p>
        </p:txBody>
      </p:sp>
      <p:sp>
        <p:nvSpPr>
          <p:cNvPr id="324" name="TextBox 43"/>
          <p:cNvSpPr txBox="1"/>
          <p:nvPr/>
        </p:nvSpPr>
        <p:spPr>
          <a:xfrm>
            <a:off x="9738360" y="4572000"/>
            <a:ext cx="1828801" cy="371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100"/>
              </a:lnSpc>
              <a:defRPr sz="900">
                <a:solidFill>
                  <a:srgbClr val="B0C4C8"/>
                </a:solidFill>
              </a:defRPr>
            </a:pPr>
            <a:r>
              <a:t>Revenue loss ~$8K/min</a:t>
            </a:r>
            <a:br/>
            <a:r>
              <a:t>~2,000 users affected</a:t>
            </a:r>
          </a:p>
        </p:txBody>
      </p:sp>
      <p:sp>
        <p:nvSpPr>
          <p:cNvPr id="325" name="Rectangle 44"/>
          <p:cNvSpPr/>
          <p:nvPr/>
        </p:nvSpPr>
        <p:spPr>
          <a:xfrm>
            <a:off x="9509759" y="5440679"/>
            <a:ext cx="2286001" cy="109728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Rectangle 45"/>
          <p:cNvSpPr/>
          <p:nvPr/>
        </p:nvSpPr>
        <p:spPr>
          <a:xfrm>
            <a:off x="9509759" y="5440679"/>
            <a:ext cx="2286001" cy="36577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TextBox 46"/>
          <p:cNvSpPr txBox="1"/>
          <p:nvPr/>
        </p:nvSpPr>
        <p:spPr>
          <a:xfrm>
            <a:off x="9738360" y="5577840"/>
            <a:ext cx="1828801" cy="241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b="1" sz="10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Hypothesis</a:t>
            </a:r>
          </a:p>
        </p:txBody>
      </p:sp>
      <p:sp>
        <p:nvSpPr>
          <p:cNvPr id="328" name="TextBox 47"/>
          <p:cNvSpPr txBox="1"/>
          <p:nvPr/>
        </p:nvSpPr>
        <p:spPr>
          <a:xfrm>
            <a:off x="9738360" y="5852159"/>
            <a:ext cx="1828801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100"/>
              </a:lnSpc>
              <a:defRPr sz="900">
                <a:solidFill>
                  <a:srgbClr val="B0C4C8"/>
                </a:solidFill>
              </a:defRPr>
            </a:pPr>
            <a:r>
              <a:t>Backend timeout</a:t>
            </a:r>
            <a:br/>
            <a:r>
              <a:t>cascading from</a:t>
            </a:r>
            <a:br/>
            <a:r>
              <a:t>checkout-service</a:t>
            </a:r>
          </a:p>
        </p:txBody>
      </p:sp>
      <p:sp>
        <p:nvSpPr>
          <p:cNvPr id="329" name="Rectangle 48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TextBox 49"/>
          <p:cNvSpPr txBox="1"/>
          <p:nvPr/>
        </p:nvSpPr>
        <p:spPr>
          <a:xfrm>
            <a:off x="777239" y="6492240"/>
            <a:ext cx="4480561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sz="900">
                <a:solidFill>
                  <a:srgbClr val="3A5058"/>
                </a:solidFill>
              </a:defRPr>
            </a:lvl1pPr>
          </a:lstStyle>
          <a:p>
            <a:pPr/>
            <a:r>
              <a:t>Debug Duck  |  Autonomous SRE Platform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tangle 1"/>
          <p:cNvSpPr/>
          <p:nvPr/>
        </p:nvSpPr>
        <p:spPr>
          <a:xfrm>
            <a:off x="731519" y="457199"/>
            <a:ext cx="54865" cy="365762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TextBox 2"/>
          <p:cNvSpPr txBox="1"/>
          <p:nvPr/>
        </p:nvSpPr>
        <p:spPr>
          <a:xfrm>
            <a:off x="978408" y="457199"/>
            <a:ext cx="35661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IMPACT</a:t>
            </a:r>
          </a:p>
        </p:txBody>
      </p:sp>
      <p:sp>
        <p:nvSpPr>
          <p:cNvPr id="334" name="TextBox 3"/>
          <p:cNvSpPr txBox="1"/>
          <p:nvPr/>
        </p:nvSpPr>
        <p:spPr>
          <a:xfrm>
            <a:off x="777239" y="1051560"/>
            <a:ext cx="996696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Before &amp; After Debug Duck</a:t>
            </a:r>
          </a:p>
        </p:txBody>
      </p:sp>
      <p:sp>
        <p:nvSpPr>
          <p:cNvPr id="335" name="Rectangle 4"/>
          <p:cNvSpPr/>
          <p:nvPr/>
        </p:nvSpPr>
        <p:spPr>
          <a:xfrm>
            <a:off x="731519" y="2011679"/>
            <a:ext cx="5120642" cy="420624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Rectangle 5"/>
          <p:cNvSpPr/>
          <p:nvPr/>
        </p:nvSpPr>
        <p:spPr>
          <a:xfrm>
            <a:off x="731519" y="2011679"/>
            <a:ext cx="5120642" cy="45721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TextBox 6"/>
          <p:cNvSpPr txBox="1"/>
          <p:nvPr/>
        </p:nvSpPr>
        <p:spPr>
          <a:xfrm>
            <a:off x="1142999" y="2240279"/>
            <a:ext cx="4297682" cy="293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WITHOUT DEBUG DUCK</a:t>
            </a:r>
          </a:p>
        </p:txBody>
      </p:sp>
      <p:sp>
        <p:nvSpPr>
          <p:cNvPr id="338" name="TextBox 7"/>
          <p:cNvSpPr txBox="1"/>
          <p:nvPr/>
        </p:nvSpPr>
        <p:spPr>
          <a:xfrm>
            <a:off x="1143000" y="2834639"/>
            <a:ext cx="1280161" cy="35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4.2 hrs</a:t>
            </a:r>
          </a:p>
        </p:txBody>
      </p:sp>
      <p:sp>
        <p:nvSpPr>
          <p:cNvPr id="339" name="TextBox 8"/>
          <p:cNvSpPr txBox="1"/>
          <p:nvPr/>
        </p:nvSpPr>
        <p:spPr>
          <a:xfrm>
            <a:off x="2560319" y="2871216"/>
            <a:ext cx="3017522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Mean Time to Resolve</a:t>
            </a:r>
          </a:p>
        </p:txBody>
      </p:sp>
      <p:sp>
        <p:nvSpPr>
          <p:cNvPr id="340" name="TextBox 9"/>
          <p:cNvSpPr txBox="1"/>
          <p:nvPr/>
        </p:nvSpPr>
        <p:spPr>
          <a:xfrm>
            <a:off x="1143000" y="3493008"/>
            <a:ext cx="1280161" cy="622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 engineers</a:t>
            </a:r>
          </a:p>
        </p:txBody>
      </p:sp>
      <p:sp>
        <p:nvSpPr>
          <p:cNvPr id="341" name="TextBox 10"/>
          <p:cNvSpPr txBox="1"/>
          <p:nvPr/>
        </p:nvSpPr>
        <p:spPr>
          <a:xfrm>
            <a:off x="2560319" y="3529584"/>
            <a:ext cx="3017522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Required per incident</a:t>
            </a:r>
          </a:p>
        </p:txBody>
      </p:sp>
      <p:sp>
        <p:nvSpPr>
          <p:cNvPr id="342" name="TextBox 11"/>
          <p:cNvSpPr txBox="1"/>
          <p:nvPr/>
        </p:nvSpPr>
        <p:spPr>
          <a:xfrm>
            <a:off x="1143000" y="4151376"/>
            <a:ext cx="1280161" cy="355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6+ tools</a:t>
            </a:r>
          </a:p>
        </p:txBody>
      </p:sp>
      <p:sp>
        <p:nvSpPr>
          <p:cNvPr id="343" name="TextBox 12"/>
          <p:cNvSpPr txBox="1"/>
          <p:nvPr/>
        </p:nvSpPr>
        <p:spPr>
          <a:xfrm>
            <a:off x="2560319" y="4187952"/>
            <a:ext cx="3017522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Manual context switching</a:t>
            </a:r>
          </a:p>
        </p:txBody>
      </p:sp>
      <p:sp>
        <p:nvSpPr>
          <p:cNvPr id="344" name="TextBox 13"/>
          <p:cNvSpPr txBox="1"/>
          <p:nvPr/>
        </p:nvSpPr>
        <p:spPr>
          <a:xfrm>
            <a:off x="1143000" y="4809744"/>
            <a:ext cx="1280161" cy="355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 weeks</a:t>
            </a:r>
          </a:p>
        </p:txBody>
      </p:sp>
      <p:sp>
        <p:nvSpPr>
          <p:cNvPr id="345" name="TextBox 14"/>
          <p:cNvSpPr txBox="1"/>
          <p:nvPr/>
        </p:nvSpPr>
        <p:spPr>
          <a:xfrm>
            <a:off x="2560319" y="4846320"/>
            <a:ext cx="3017522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Postmortem written after</a:t>
            </a:r>
          </a:p>
        </p:txBody>
      </p:sp>
      <p:sp>
        <p:nvSpPr>
          <p:cNvPr id="346" name="TextBox 15"/>
          <p:cNvSpPr txBox="1"/>
          <p:nvPr/>
        </p:nvSpPr>
        <p:spPr>
          <a:xfrm>
            <a:off x="1143000" y="5468111"/>
            <a:ext cx="1280161" cy="35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$50K+</a:t>
            </a:r>
          </a:p>
        </p:txBody>
      </p:sp>
      <p:sp>
        <p:nvSpPr>
          <p:cNvPr id="347" name="TextBox 16"/>
          <p:cNvSpPr txBox="1"/>
          <p:nvPr/>
        </p:nvSpPr>
        <p:spPr>
          <a:xfrm>
            <a:off x="2560319" y="5504688"/>
            <a:ext cx="3017522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Cost per SEV-1 incident</a:t>
            </a:r>
          </a:p>
        </p:txBody>
      </p:sp>
      <p:sp>
        <p:nvSpPr>
          <p:cNvPr id="348" name="Rectangle 17"/>
          <p:cNvSpPr/>
          <p:nvPr/>
        </p:nvSpPr>
        <p:spPr>
          <a:xfrm>
            <a:off x="6309359" y="2011679"/>
            <a:ext cx="5120641" cy="420624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Rectangle 18"/>
          <p:cNvSpPr/>
          <p:nvPr/>
        </p:nvSpPr>
        <p:spPr>
          <a:xfrm>
            <a:off x="6309359" y="2011679"/>
            <a:ext cx="5120641" cy="4572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TextBox 19"/>
          <p:cNvSpPr txBox="1"/>
          <p:nvPr/>
        </p:nvSpPr>
        <p:spPr>
          <a:xfrm>
            <a:off x="6720839" y="2240279"/>
            <a:ext cx="4297681" cy="293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WITH DEBUG DUCK</a:t>
            </a:r>
          </a:p>
        </p:txBody>
      </p:sp>
      <p:sp>
        <p:nvSpPr>
          <p:cNvPr id="351" name="TextBox 20"/>
          <p:cNvSpPr txBox="1"/>
          <p:nvPr/>
        </p:nvSpPr>
        <p:spPr>
          <a:xfrm>
            <a:off x="6720839" y="2834639"/>
            <a:ext cx="1280161" cy="35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12 min</a:t>
            </a:r>
          </a:p>
        </p:txBody>
      </p:sp>
      <p:sp>
        <p:nvSpPr>
          <p:cNvPr id="352" name="TextBox 21"/>
          <p:cNvSpPr txBox="1"/>
          <p:nvPr/>
        </p:nvSpPr>
        <p:spPr>
          <a:xfrm>
            <a:off x="8138160" y="2871216"/>
            <a:ext cx="301752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Mean Time to Resolve</a:t>
            </a:r>
          </a:p>
        </p:txBody>
      </p:sp>
      <p:sp>
        <p:nvSpPr>
          <p:cNvPr id="353" name="TextBox 22"/>
          <p:cNvSpPr txBox="1"/>
          <p:nvPr/>
        </p:nvSpPr>
        <p:spPr>
          <a:xfrm>
            <a:off x="6720839" y="3493008"/>
            <a:ext cx="1280161" cy="622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 engineers</a:t>
            </a:r>
          </a:p>
        </p:txBody>
      </p:sp>
      <p:sp>
        <p:nvSpPr>
          <p:cNvPr id="354" name="TextBox 23"/>
          <p:cNvSpPr txBox="1"/>
          <p:nvPr/>
        </p:nvSpPr>
        <p:spPr>
          <a:xfrm>
            <a:off x="8138160" y="3529584"/>
            <a:ext cx="301752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Fully autonomous triage</a:t>
            </a:r>
          </a:p>
        </p:txBody>
      </p:sp>
      <p:sp>
        <p:nvSpPr>
          <p:cNvPr id="355" name="TextBox 24"/>
          <p:cNvSpPr txBox="1"/>
          <p:nvPr/>
        </p:nvSpPr>
        <p:spPr>
          <a:xfrm>
            <a:off x="6720839" y="4151376"/>
            <a:ext cx="1280161" cy="355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 platform</a:t>
            </a:r>
          </a:p>
        </p:txBody>
      </p:sp>
      <p:sp>
        <p:nvSpPr>
          <p:cNvPr id="356" name="TextBox 25"/>
          <p:cNvSpPr txBox="1"/>
          <p:nvPr/>
        </p:nvSpPr>
        <p:spPr>
          <a:xfrm>
            <a:off x="8138160" y="4187952"/>
            <a:ext cx="301752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Unified AI War Room</a:t>
            </a:r>
          </a:p>
        </p:txBody>
      </p:sp>
      <p:sp>
        <p:nvSpPr>
          <p:cNvPr id="357" name="TextBox 26"/>
          <p:cNvSpPr txBox="1"/>
          <p:nvPr/>
        </p:nvSpPr>
        <p:spPr>
          <a:xfrm>
            <a:off x="6720839" y="4809744"/>
            <a:ext cx="1280161" cy="355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Instant</a:t>
            </a:r>
          </a:p>
        </p:txBody>
      </p:sp>
      <p:sp>
        <p:nvSpPr>
          <p:cNvPr id="358" name="TextBox 27"/>
          <p:cNvSpPr txBox="1"/>
          <p:nvPr/>
        </p:nvSpPr>
        <p:spPr>
          <a:xfrm>
            <a:off x="8138160" y="4846320"/>
            <a:ext cx="301752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Auto-generated dossier</a:t>
            </a:r>
          </a:p>
        </p:txBody>
      </p:sp>
      <p:sp>
        <p:nvSpPr>
          <p:cNvPr id="359" name="TextBox 28"/>
          <p:cNvSpPr txBox="1"/>
          <p:nvPr/>
        </p:nvSpPr>
        <p:spPr>
          <a:xfrm>
            <a:off x="6720839" y="5468111"/>
            <a:ext cx="1280161" cy="35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&lt; $2K</a:t>
            </a:r>
          </a:p>
        </p:txBody>
      </p:sp>
      <p:sp>
        <p:nvSpPr>
          <p:cNvPr id="360" name="TextBox 29"/>
          <p:cNvSpPr txBox="1"/>
          <p:nvPr/>
        </p:nvSpPr>
        <p:spPr>
          <a:xfrm>
            <a:off x="8138160" y="5504688"/>
            <a:ext cx="301752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Cost per SEV-1 incident</a:t>
            </a:r>
          </a:p>
        </p:txBody>
      </p:sp>
      <p:sp>
        <p:nvSpPr>
          <p:cNvPr id="361" name="Rectangle 30"/>
          <p:cNvSpPr/>
          <p:nvPr/>
        </p:nvSpPr>
        <p:spPr>
          <a:xfrm>
            <a:off x="731519" y="6355079"/>
            <a:ext cx="10698482" cy="27433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Rectangle 31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TextBox 32"/>
          <p:cNvSpPr txBox="1"/>
          <p:nvPr/>
        </p:nvSpPr>
        <p:spPr>
          <a:xfrm>
            <a:off x="777239" y="6492240"/>
            <a:ext cx="4480561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sz="900">
                <a:solidFill>
                  <a:srgbClr val="3A5058"/>
                </a:solidFill>
              </a:defRPr>
            </a:lvl1pPr>
          </a:lstStyle>
          <a:p>
            <a:pPr/>
            <a:r>
              <a:t>Debug Duck  |  Autonomous SRE Platform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Rectangle 1"/>
          <p:cNvSpPr/>
          <p:nvPr/>
        </p:nvSpPr>
        <p:spPr>
          <a:xfrm>
            <a:off x="731519" y="457199"/>
            <a:ext cx="54865" cy="365762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TextBox 2"/>
          <p:cNvSpPr txBox="1"/>
          <p:nvPr/>
        </p:nvSpPr>
        <p:spPr>
          <a:xfrm>
            <a:off x="978408" y="457199"/>
            <a:ext cx="35661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REMEDIATION</a:t>
            </a:r>
          </a:p>
        </p:txBody>
      </p:sp>
      <p:sp>
        <p:nvSpPr>
          <p:cNvPr id="367" name="TextBox 3"/>
          <p:cNvSpPr txBox="1"/>
          <p:nvPr/>
        </p:nvSpPr>
        <p:spPr>
          <a:xfrm>
            <a:off x="777239" y="1051560"/>
            <a:ext cx="996696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Automated Fix Pipeline</a:t>
            </a:r>
          </a:p>
        </p:txBody>
      </p:sp>
      <p:sp>
        <p:nvSpPr>
          <p:cNvPr id="368" name="TextBox 4"/>
          <p:cNvSpPr txBox="1"/>
          <p:nvPr/>
        </p:nvSpPr>
        <p:spPr>
          <a:xfrm>
            <a:off x="777239" y="1737360"/>
            <a:ext cx="9052561" cy="298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400">
                <a:solidFill>
                  <a:srgbClr val="B0C4C8"/>
                </a:solidFill>
              </a:defRPr>
            </a:lvl1pPr>
          </a:lstStyle>
          <a:p>
            <a:pPr/>
            <a:r>
              <a:t>From root cause analysis to PR creation — without leaving the War Room.</a:t>
            </a:r>
          </a:p>
        </p:txBody>
      </p:sp>
      <p:sp>
        <p:nvSpPr>
          <p:cNvPr id="369" name="Rectangle 5"/>
          <p:cNvSpPr/>
          <p:nvPr/>
        </p:nvSpPr>
        <p:spPr>
          <a:xfrm>
            <a:off x="731519" y="2468879"/>
            <a:ext cx="2514601" cy="237744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Rectangle 6"/>
          <p:cNvSpPr/>
          <p:nvPr/>
        </p:nvSpPr>
        <p:spPr>
          <a:xfrm>
            <a:off x="731519" y="2468879"/>
            <a:ext cx="2514601" cy="45721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Oval 7"/>
          <p:cNvSpPr/>
          <p:nvPr/>
        </p:nvSpPr>
        <p:spPr>
          <a:xfrm>
            <a:off x="914399" y="2697479"/>
            <a:ext cx="365762" cy="365761"/>
          </a:xfrm>
          <a:prstGeom prst="ellipse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TextBox 8"/>
          <p:cNvSpPr txBox="1"/>
          <p:nvPr/>
        </p:nvSpPr>
        <p:spPr>
          <a:xfrm>
            <a:off x="960119" y="2724911"/>
            <a:ext cx="274322" cy="471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500"/>
              </a:lnSpc>
              <a:defRPr b="1" sz="13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73" name="TextBox 9"/>
          <p:cNvSpPr txBox="1"/>
          <p:nvPr/>
        </p:nvSpPr>
        <p:spPr>
          <a:xfrm>
            <a:off x="960120" y="3200399"/>
            <a:ext cx="2057400" cy="316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ROOT CAUSE</a:t>
            </a:r>
          </a:p>
        </p:txBody>
      </p:sp>
      <p:sp>
        <p:nvSpPr>
          <p:cNvPr id="374" name="TextBox 10"/>
          <p:cNvSpPr txBox="1"/>
          <p:nvPr/>
        </p:nvSpPr>
        <p:spPr>
          <a:xfrm>
            <a:off x="960120" y="3611879"/>
            <a:ext cx="2057400" cy="449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400"/>
              </a:lnSpc>
              <a:defRPr sz="1200">
                <a:solidFill>
                  <a:srgbClr val="B0C4C8"/>
                </a:solidFill>
              </a:defRPr>
            </a:pPr>
            <a:r>
              <a:t>AI identifies the exact</a:t>
            </a:r>
            <a:br/>
            <a:r>
              <a:t>code causing the incident</a:t>
            </a:r>
          </a:p>
        </p:txBody>
      </p:sp>
      <p:sp>
        <p:nvSpPr>
          <p:cNvPr id="375" name="TextBox 11"/>
          <p:cNvSpPr txBox="1"/>
          <p:nvPr/>
        </p:nvSpPr>
        <p:spPr>
          <a:xfrm>
            <a:off x="3246119" y="3383279"/>
            <a:ext cx="274322" cy="425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2600"/>
              </a:lnSpc>
              <a:defRPr sz="2200">
                <a:solidFill>
                  <a:srgbClr val="058AA0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76" name="Rectangle 12"/>
          <p:cNvSpPr/>
          <p:nvPr/>
        </p:nvSpPr>
        <p:spPr>
          <a:xfrm>
            <a:off x="3520438" y="2468879"/>
            <a:ext cx="2514601" cy="237744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Rectangle 13"/>
          <p:cNvSpPr/>
          <p:nvPr/>
        </p:nvSpPr>
        <p:spPr>
          <a:xfrm>
            <a:off x="3520438" y="2468879"/>
            <a:ext cx="2514601" cy="45721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8" name="Oval 14"/>
          <p:cNvSpPr/>
          <p:nvPr/>
        </p:nvSpPr>
        <p:spPr>
          <a:xfrm>
            <a:off x="3703320" y="2697479"/>
            <a:ext cx="365761" cy="365761"/>
          </a:xfrm>
          <a:prstGeom prst="ellipse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" name="TextBox 15"/>
          <p:cNvSpPr txBox="1"/>
          <p:nvPr/>
        </p:nvSpPr>
        <p:spPr>
          <a:xfrm>
            <a:off x="3749040" y="2724911"/>
            <a:ext cx="274321" cy="471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500"/>
              </a:lnSpc>
              <a:defRPr b="1" sz="13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80" name="TextBox 16"/>
          <p:cNvSpPr txBox="1"/>
          <p:nvPr/>
        </p:nvSpPr>
        <p:spPr>
          <a:xfrm>
            <a:off x="3749040" y="3200399"/>
            <a:ext cx="2057401" cy="316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CODE FIX</a:t>
            </a:r>
          </a:p>
        </p:txBody>
      </p:sp>
      <p:sp>
        <p:nvSpPr>
          <p:cNvPr id="381" name="TextBox 17"/>
          <p:cNvSpPr txBox="1"/>
          <p:nvPr/>
        </p:nvSpPr>
        <p:spPr>
          <a:xfrm>
            <a:off x="3749040" y="3611879"/>
            <a:ext cx="2057401" cy="449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400"/>
              </a:lnSpc>
              <a:defRPr sz="1200">
                <a:solidFill>
                  <a:srgbClr val="B0C4C8"/>
                </a:solidFill>
              </a:defRPr>
            </a:pPr>
            <a:r>
              <a:t>Generates multi-file fixes</a:t>
            </a:r>
            <a:br/>
            <a:r>
              <a:t>with full diff preview</a:t>
            </a:r>
          </a:p>
        </p:txBody>
      </p:sp>
      <p:sp>
        <p:nvSpPr>
          <p:cNvPr id="382" name="TextBox 18"/>
          <p:cNvSpPr txBox="1"/>
          <p:nvPr/>
        </p:nvSpPr>
        <p:spPr>
          <a:xfrm>
            <a:off x="6035040" y="3383279"/>
            <a:ext cx="274321" cy="425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2600"/>
              </a:lnSpc>
              <a:defRPr sz="2200">
                <a:solidFill>
                  <a:srgbClr val="058AA0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83" name="Rectangle 19"/>
          <p:cNvSpPr/>
          <p:nvPr/>
        </p:nvSpPr>
        <p:spPr>
          <a:xfrm>
            <a:off x="6309359" y="2468879"/>
            <a:ext cx="2514601" cy="237744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4" name="Rectangle 20"/>
          <p:cNvSpPr/>
          <p:nvPr/>
        </p:nvSpPr>
        <p:spPr>
          <a:xfrm>
            <a:off x="6309359" y="2468879"/>
            <a:ext cx="2514601" cy="45721"/>
          </a:xfrm>
          <a:prstGeom prst="rect">
            <a:avLst/>
          </a:prstGeom>
          <a:solidFill>
            <a:srgbClr val="F973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5" name="Oval 21"/>
          <p:cNvSpPr/>
          <p:nvPr/>
        </p:nvSpPr>
        <p:spPr>
          <a:xfrm>
            <a:off x="6492240" y="2697479"/>
            <a:ext cx="365761" cy="365761"/>
          </a:xfrm>
          <a:prstGeom prst="ellipse">
            <a:avLst/>
          </a:prstGeom>
          <a:solidFill>
            <a:srgbClr val="F973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6" name="TextBox 22"/>
          <p:cNvSpPr txBox="1"/>
          <p:nvPr/>
        </p:nvSpPr>
        <p:spPr>
          <a:xfrm>
            <a:off x="6537960" y="2724911"/>
            <a:ext cx="274321" cy="471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500"/>
              </a:lnSpc>
              <a:defRPr b="1" sz="13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87" name="TextBox 23"/>
          <p:cNvSpPr txBox="1"/>
          <p:nvPr/>
        </p:nvSpPr>
        <p:spPr>
          <a:xfrm>
            <a:off x="6537960" y="3200399"/>
            <a:ext cx="2057401" cy="316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VERIFICATION</a:t>
            </a:r>
          </a:p>
        </p:txBody>
      </p:sp>
      <p:sp>
        <p:nvSpPr>
          <p:cNvPr id="388" name="TextBox 24"/>
          <p:cNvSpPr txBox="1"/>
          <p:nvPr/>
        </p:nvSpPr>
        <p:spPr>
          <a:xfrm>
            <a:off x="6537960" y="3611879"/>
            <a:ext cx="2057401" cy="449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400"/>
              </a:lnSpc>
              <a:defRPr sz="1200">
                <a:solidFill>
                  <a:srgbClr val="B0C4C8"/>
                </a:solidFill>
              </a:defRPr>
            </a:pPr>
            <a:r>
              <a:t>AI reviews its own fix</a:t>
            </a:r>
            <a:br/>
            <a:r>
              <a:t>for regressions</a:t>
            </a:r>
          </a:p>
        </p:txBody>
      </p:sp>
      <p:sp>
        <p:nvSpPr>
          <p:cNvPr id="389" name="TextBox 25"/>
          <p:cNvSpPr txBox="1"/>
          <p:nvPr/>
        </p:nvSpPr>
        <p:spPr>
          <a:xfrm>
            <a:off x="8823960" y="3383279"/>
            <a:ext cx="274321" cy="425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2600"/>
              </a:lnSpc>
              <a:defRPr sz="2200">
                <a:solidFill>
                  <a:srgbClr val="058AA0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90" name="Rectangle 26"/>
          <p:cNvSpPr/>
          <p:nvPr/>
        </p:nvSpPr>
        <p:spPr>
          <a:xfrm>
            <a:off x="9098280" y="2468879"/>
            <a:ext cx="2514601" cy="237744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1" name="Rectangle 27"/>
          <p:cNvSpPr/>
          <p:nvPr/>
        </p:nvSpPr>
        <p:spPr>
          <a:xfrm>
            <a:off x="9098280" y="2468879"/>
            <a:ext cx="2514601" cy="4572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2" name="Oval 28"/>
          <p:cNvSpPr/>
          <p:nvPr/>
        </p:nvSpPr>
        <p:spPr>
          <a:xfrm>
            <a:off x="9281159" y="2697479"/>
            <a:ext cx="365761" cy="365761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3" name="TextBox 29"/>
          <p:cNvSpPr txBox="1"/>
          <p:nvPr/>
        </p:nvSpPr>
        <p:spPr>
          <a:xfrm>
            <a:off x="9326879" y="2724911"/>
            <a:ext cx="274321" cy="471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500"/>
              </a:lnSpc>
              <a:defRPr b="1" sz="13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94" name="TextBox 30"/>
          <p:cNvSpPr txBox="1"/>
          <p:nvPr/>
        </p:nvSpPr>
        <p:spPr>
          <a:xfrm>
            <a:off x="9326879" y="3200399"/>
            <a:ext cx="2057401" cy="316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PR CREATION</a:t>
            </a:r>
          </a:p>
        </p:txBody>
      </p:sp>
      <p:sp>
        <p:nvSpPr>
          <p:cNvPr id="395" name="TextBox 31"/>
          <p:cNvSpPr txBox="1"/>
          <p:nvPr/>
        </p:nvSpPr>
        <p:spPr>
          <a:xfrm>
            <a:off x="9326879" y="3611879"/>
            <a:ext cx="2057401" cy="449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400"/>
              </a:lnSpc>
              <a:defRPr sz="1200">
                <a:solidFill>
                  <a:srgbClr val="B0C4C8"/>
                </a:solidFill>
              </a:defRPr>
            </a:pPr>
            <a:r>
              <a:t>One-click GitHub PR</a:t>
            </a:r>
            <a:br/>
            <a:r>
              <a:t>with full incident context</a:t>
            </a:r>
          </a:p>
        </p:txBody>
      </p:sp>
      <p:sp>
        <p:nvSpPr>
          <p:cNvPr id="396" name="Rectangle 32"/>
          <p:cNvSpPr/>
          <p:nvPr/>
        </p:nvSpPr>
        <p:spPr>
          <a:xfrm>
            <a:off x="731519" y="5212079"/>
            <a:ext cx="10515601" cy="8229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7" name="Rectangle 33"/>
          <p:cNvSpPr/>
          <p:nvPr/>
        </p:nvSpPr>
        <p:spPr>
          <a:xfrm>
            <a:off x="731519" y="5212079"/>
            <a:ext cx="54865" cy="82296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8" name="TextBox 34"/>
          <p:cNvSpPr txBox="1"/>
          <p:nvPr/>
        </p:nvSpPr>
        <p:spPr>
          <a:xfrm>
            <a:off x="1097280" y="5303520"/>
            <a:ext cx="9509761" cy="475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sz="1300">
                <a:solidFill>
                  <a:srgbClr val="B0C4C8"/>
                </a:solidFill>
              </a:defRPr>
            </a:lvl1pPr>
          </a:lstStyle>
          <a:p>
            <a:pPr/>
            <a:r>
              <a:t>Every fix includes full reasoning chain + evidence links. Engineers verify the AI's logic before merging. Human-in-the-loop gate ensures no autonomous deployment.</a:t>
            </a:r>
          </a:p>
        </p:txBody>
      </p:sp>
      <p:sp>
        <p:nvSpPr>
          <p:cNvPr id="399" name="Rectangle 35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0" name="TextBox 36"/>
          <p:cNvSpPr txBox="1"/>
          <p:nvPr/>
        </p:nvSpPr>
        <p:spPr>
          <a:xfrm>
            <a:off x="777239" y="6492240"/>
            <a:ext cx="4480561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sz="900">
                <a:solidFill>
                  <a:srgbClr val="3A5058"/>
                </a:solidFill>
              </a:defRPr>
            </a:lvl1pPr>
          </a:lstStyle>
          <a:p>
            <a:pPr/>
            <a:r>
              <a:t>Debug Duck  |  Autonomous SRE Platform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 1"/>
          <p:cNvSpPr/>
          <p:nvPr/>
        </p:nvSpPr>
        <p:spPr>
          <a:xfrm>
            <a:off x="731519" y="457199"/>
            <a:ext cx="54865" cy="365762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3" name="TextBox 2"/>
          <p:cNvSpPr txBox="1"/>
          <p:nvPr/>
        </p:nvSpPr>
        <p:spPr>
          <a:xfrm>
            <a:off x="978408" y="457199"/>
            <a:ext cx="35661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CLOSURE</a:t>
            </a:r>
          </a:p>
        </p:txBody>
      </p:sp>
      <p:sp>
        <p:nvSpPr>
          <p:cNvPr id="404" name="TextBox 3"/>
          <p:cNvSpPr txBox="1"/>
          <p:nvPr/>
        </p:nvSpPr>
        <p:spPr>
          <a:xfrm>
            <a:off x="777239" y="1051560"/>
            <a:ext cx="996696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Incident Closure &amp; Postmortem</a:t>
            </a:r>
          </a:p>
        </p:txBody>
      </p:sp>
      <p:sp>
        <p:nvSpPr>
          <p:cNvPr id="405" name="Rectangle 4"/>
          <p:cNvSpPr/>
          <p:nvPr/>
        </p:nvSpPr>
        <p:spPr>
          <a:xfrm>
            <a:off x="731519" y="2011679"/>
            <a:ext cx="5303522" cy="182880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6" name="Rectangle 5"/>
          <p:cNvSpPr/>
          <p:nvPr/>
        </p:nvSpPr>
        <p:spPr>
          <a:xfrm>
            <a:off x="731519" y="2011679"/>
            <a:ext cx="5303522" cy="45721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7" name="TextBox 6"/>
          <p:cNvSpPr txBox="1"/>
          <p:nvPr/>
        </p:nvSpPr>
        <p:spPr>
          <a:xfrm>
            <a:off x="1051559" y="2240279"/>
            <a:ext cx="4663441" cy="28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b="1" sz="1300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ITSM INTEGRATION</a:t>
            </a:r>
          </a:p>
        </p:txBody>
      </p:sp>
      <p:sp>
        <p:nvSpPr>
          <p:cNvPr id="408" name="TextBox 7"/>
          <p:cNvSpPr txBox="1"/>
          <p:nvPr/>
        </p:nvSpPr>
        <p:spPr>
          <a:xfrm>
            <a:off x="1051559" y="2651760"/>
            <a:ext cx="4480561" cy="767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3B82F6"/>
                </a:solidFill>
              </a:defRPr>
            </a:pPr>
            <a:r>
              <a:t>›  </a:t>
            </a:r>
            <a:r>
              <a:rPr sz="1100">
                <a:solidFill>
                  <a:srgbClr val="FFFFFF"/>
                </a:solidFill>
              </a:rPr>
              <a:t>Jira Tickets</a:t>
            </a:r>
            <a:r>
              <a:rPr b="0" sz="1100">
                <a:solidFill>
                  <a:srgbClr val="B0C4C8"/>
                </a:solidFill>
              </a:rPr>
              <a:t>  — INC-XXXXX with full context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3B82F6"/>
                </a:solidFill>
              </a:defRPr>
            </a:pPr>
            <a:r>
              <a:t>›  </a:t>
            </a:r>
            <a:r>
              <a:rPr sz="1100">
                <a:solidFill>
                  <a:srgbClr val="FFFFFF"/>
                </a:solidFill>
              </a:rPr>
              <a:t>BMC Remedy</a:t>
            </a:r>
            <a:r>
              <a:rPr b="0" sz="1100">
                <a:solidFill>
                  <a:srgbClr val="B0C4C8"/>
                </a:solidFill>
              </a:rPr>
              <a:t>  — CHG-XXXXX change records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3B82F6"/>
                </a:solidFill>
              </a:defRPr>
            </a:pPr>
            <a:r>
              <a:t>›  </a:t>
            </a:r>
            <a:r>
              <a:rPr sz="1100">
                <a:solidFill>
                  <a:srgbClr val="FFFFFF"/>
                </a:solidFill>
              </a:rPr>
              <a:t>ServiceNow</a:t>
            </a:r>
            <a:r>
              <a:rPr b="0" sz="1100">
                <a:solidFill>
                  <a:srgbClr val="B0C4C8"/>
                </a:solidFill>
              </a:rPr>
              <a:t>  — Auto-populate incident fields</a:t>
            </a:r>
          </a:p>
        </p:txBody>
      </p:sp>
      <p:sp>
        <p:nvSpPr>
          <p:cNvPr id="409" name="Rectangle 8"/>
          <p:cNvSpPr/>
          <p:nvPr/>
        </p:nvSpPr>
        <p:spPr>
          <a:xfrm>
            <a:off x="6309359" y="2011679"/>
            <a:ext cx="5120641" cy="182880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0" name="Rectangle 9"/>
          <p:cNvSpPr/>
          <p:nvPr/>
        </p:nvSpPr>
        <p:spPr>
          <a:xfrm>
            <a:off x="6309359" y="2011679"/>
            <a:ext cx="5120641" cy="4572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1" name="TextBox 10"/>
          <p:cNvSpPr txBox="1"/>
          <p:nvPr/>
        </p:nvSpPr>
        <p:spPr>
          <a:xfrm>
            <a:off x="6629400" y="2240279"/>
            <a:ext cx="4480561" cy="28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b="1" sz="13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AI-GENERATED POSTMORTEM</a:t>
            </a:r>
          </a:p>
        </p:txBody>
      </p:sp>
      <p:sp>
        <p:nvSpPr>
          <p:cNvPr id="412" name="TextBox 11"/>
          <p:cNvSpPr txBox="1"/>
          <p:nvPr/>
        </p:nvSpPr>
        <p:spPr>
          <a:xfrm>
            <a:off x="6629400" y="2651760"/>
            <a:ext cx="4480561" cy="767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10B981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Executive summary from agent findings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10B981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Impact statement with blast radius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10B981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AI-GENERATED → HUMAN-VERIFIED badge</a:t>
            </a:r>
          </a:p>
        </p:txBody>
      </p:sp>
      <p:sp>
        <p:nvSpPr>
          <p:cNvPr id="413" name="TextBox 12"/>
          <p:cNvSpPr txBox="1"/>
          <p:nvPr/>
        </p:nvSpPr>
        <p:spPr>
          <a:xfrm>
            <a:off x="777239" y="4114799"/>
            <a:ext cx="10424161" cy="28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b="1" sz="13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INCIDENT DOSSIER — 10 SECTIONS</a:t>
            </a:r>
          </a:p>
        </p:txBody>
      </p:sp>
      <p:sp>
        <p:nvSpPr>
          <p:cNvPr id="414" name="Rectangle 13"/>
          <p:cNvSpPr/>
          <p:nvPr/>
        </p:nvSpPr>
        <p:spPr>
          <a:xfrm>
            <a:off x="731520" y="4617720"/>
            <a:ext cx="1920240" cy="50292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5" name="Rectangle 14"/>
          <p:cNvSpPr/>
          <p:nvPr/>
        </p:nvSpPr>
        <p:spPr>
          <a:xfrm>
            <a:off x="731519" y="4617720"/>
            <a:ext cx="45721" cy="502920"/>
          </a:xfrm>
          <a:prstGeom prst="rect">
            <a:avLst/>
          </a:prstGeom>
          <a:solidFill>
            <a:srgbClr val="058AA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6" name="TextBox 15"/>
          <p:cNvSpPr txBox="1"/>
          <p:nvPr/>
        </p:nvSpPr>
        <p:spPr>
          <a:xfrm>
            <a:off x="960119" y="4727447"/>
            <a:ext cx="150876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Incident Card</a:t>
            </a:r>
          </a:p>
        </p:txBody>
      </p:sp>
      <p:sp>
        <p:nvSpPr>
          <p:cNvPr id="417" name="Rectangle 16"/>
          <p:cNvSpPr/>
          <p:nvPr/>
        </p:nvSpPr>
        <p:spPr>
          <a:xfrm>
            <a:off x="2944367" y="4617720"/>
            <a:ext cx="1920241" cy="50292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8" name="Rectangle 17"/>
          <p:cNvSpPr/>
          <p:nvPr/>
        </p:nvSpPr>
        <p:spPr>
          <a:xfrm>
            <a:off x="2944367" y="4617720"/>
            <a:ext cx="45721" cy="502920"/>
          </a:xfrm>
          <a:prstGeom prst="rect">
            <a:avLst/>
          </a:prstGeom>
          <a:solidFill>
            <a:srgbClr val="058AA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9" name="TextBox 18"/>
          <p:cNvSpPr txBox="1"/>
          <p:nvPr/>
        </p:nvSpPr>
        <p:spPr>
          <a:xfrm>
            <a:off x="3172968" y="4727447"/>
            <a:ext cx="150876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Executive Summary</a:t>
            </a:r>
          </a:p>
        </p:txBody>
      </p:sp>
      <p:sp>
        <p:nvSpPr>
          <p:cNvPr id="420" name="Rectangle 19"/>
          <p:cNvSpPr/>
          <p:nvPr/>
        </p:nvSpPr>
        <p:spPr>
          <a:xfrm>
            <a:off x="5157215" y="4617720"/>
            <a:ext cx="1920241" cy="50292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1" name="Rectangle 20"/>
          <p:cNvSpPr/>
          <p:nvPr/>
        </p:nvSpPr>
        <p:spPr>
          <a:xfrm>
            <a:off x="5157215" y="4617720"/>
            <a:ext cx="45721" cy="502920"/>
          </a:xfrm>
          <a:prstGeom prst="rect">
            <a:avLst/>
          </a:prstGeom>
          <a:solidFill>
            <a:srgbClr val="058AA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2" name="TextBox 21"/>
          <p:cNvSpPr txBox="1"/>
          <p:nvPr/>
        </p:nvSpPr>
        <p:spPr>
          <a:xfrm>
            <a:off x="5385816" y="4727447"/>
            <a:ext cx="150876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Impact Statement</a:t>
            </a:r>
          </a:p>
        </p:txBody>
      </p:sp>
      <p:sp>
        <p:nvSpPr>
          <p:cNvPr id="423" name="Rectangle 22"/>
          <p:cNvSpPr/>
          <p:nvPr/>
        </p:nvSpPr>
        <p:spPr>
          <a:xfrm>
            <a:off x="7370064" y="4617720"/>
            <a:ext cx="1920241" cy="50292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4" name="Rectangle 23"/>
          <p:cNvSpPr/>
          <p:nvPr/>
        </p:nvSpPr>
        <p:spPr>
          <a:xfrm>
            <a:off x="7370064" y="4617720"/>
            <a:ext cx="45721" cy="502920"/>
          </a:xfrm>
          <a:prstGeom prst="rect">
            <a:avLst/>
          </a:prstGeom>
          <a:solidFill>
            <a:srgbClr val="058AA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5" name="TextBox 24"/>
          <p:cNvSpPr txBox="1"/>
          <p:nvPr/>
        </p:nvSpPr>
        <p:spPr>
          <a:xfrm>
            <a:off x="7598663" y="4727447"/>
            <a:ext cx="150876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Visual Topology</a:t>
            </a:r>
          </a:p>
        </p:txBody>
      </p:sp>
      <p:sp>
        <p:nvSpPr>
          <p:cNvPr id="426" name="Rectangle 25"/>
          <p:cNvSpPr/>
          <p:nvPr/>
        </p:nvSpPr>
        <p:spPr>
          <a:xfrm>
            <a:off x="9582911" y="4617720"/>
            <a:ext cx="1920241" cy="50292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7" name="Rectangle 26"/>
          <p:cNvSpPr/>
          <p:nvPr/>
        </p:nvSpPr>
        <p:spPr>
          <a:xfrm>
            <a:off x="9582911" y="4617720"/>
            <a:ext cx="45721" cy="502920"/>
          </a:xfrm>
          <a:prstGeom prst="rect">
            <a:avLst/>
          </a:prstGeom>
          <a:solidFill>
            <a:srgbClr val="058AA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TextBox 27"/>
          <p:cNvSpPr txBox="1"/>
          <p:nvPr/>
        </p:nvSpPr>
        <p:spPr>
          <a:xfrm>
            <a:off x="9811512" y="4727447"/>
            <a:ext cx="150876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Timeline of Truth</a:t>
            </a:r>
          </a:p>
        </p:txBody>
      </p:sp>
      <p:sp>
        <p:nvSpPr>
          <p:cNvPr id="429" name="Rectangle 28"/>
          <p:cNvSpPr/>
          <p:nvPr/>
        </p:nvSpPr>
        <p:spPr>
          <a:xfrm>
            <a:off x="731520" y="5276088"/>
            <a:ext cx="1920240" cy="50292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0" name="Rectangle 29"/>
          <p:cNvSpPr/>
          <p:nvPr/>
        </p:nvSpPr>
        <p:spPr>
          <a:xfrm>
            <a:off x="731519" y="5276088"/>
            <a:ext cx="45721" cy="502920"/>
          </a:xfrm>
          <a:prstGeom prst="rect">
            <a:avLst/>
          </a:prstGeom>
          <a:solidFill>
            <a:srgbClr val="058AA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1" name="TextBox 30"/>
          <p:cNvSpPr txBox="1"/>
          <p:nvPr/>
        </p:nvSpPr>
        <p:spPr>
          <a:xfrm>
            <a:off x="960119" y="5385815"/>
            <a:ext cx="150876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Evidence Table</a:t>
            </a:r>
          </a:p>
        </p:txBody>
      </p:sp>
      <p:sp>
        <p:nvSpPr>
          <p:cNvPr id="432" name="Rectangle 31"/>
          <p:cNvSpPr/>
          <p:nvPr/>
        </p:nvSpPr>
        <p:spPr>
          <a:xfrm>
            <a:off x="2944367" y="5276088"/>
            <a:ext cx="1920241" cy="50292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3" name="Rectangle 32"/>
          <p:cNvSpPr/>
          <p:nvPr/>
        </p:nvSpPr>
        <p:spPr>
          <a:xfrm>
            <a:off x="2944367" y="5276088"/>
            <a:ext cx="45721" cy="502920"/>
          </a:xfrm>
          <a:prstGeom prst="rect">
            <a:avLst/>
          </a:prstGeom>
          <a:solidFill>
            <a:srgbClr val="058AA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4" name="TextBox 33"/>
          <p:cNvSpPr txBox="1"/>
          <p:nvPr/>
        </p:nvSpPr>
        <p:spPr>
          <a:xfrm>
            <a:off x="3172968" y="5385815"/>
            <a:ext cx="150876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Agent Reasoning Log</a:t>
            </a:r>
          </a:p>
        </p:txBody>
      </p:sp>
      <p:sp>
        <p:nvSpPr>
          <p:cNvPr id="435" name="Rectangle 34"/>
          <p:cNvSpPr/>
          <p:nvPr/>
        </p:nvSpPr>
        <p:spPr>
          <a:xfrm>
            <a:off x="5157215" y="5276088"/>
            <a:ext cx="1920241" cy="50292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6" name="Rectangle 35"/>
          <p:cNvSpPr/>
          <p:nvPr/>
        </p:nvSpPr>
        <p:spPr>
          <a:xfrm>
            <a:off x="5157215" y="5276088"/>
            <a:ext cx="45721" cy="502920"/>
          </a:xfrm>
          <a:prstGeom prst="rect">
            <a:avLst/>
          </a:prstGeom>
          <a:solidFill>
            <a:srgbClr val="058AA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7" name="TextBox 36"/>
          <p:cNvSpPr txBox="1"/>
          <p:nvPr/>
        </p:nvSpPr>
        <p:spPr>
          <a:xfrm>
            <a:off x="5385816" y="5385815"/>
            <a:ext cx="150876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Remediation</a:t>
            </a:r>
          </a:p>
        </p:txBody>
      </p:sp>
      <p:sp>
        <p:nvSpPr>
          <p:cNvPr id="438" name="Rectangle 37"/>
          <p:cNvSpPr/>
          <p:nvPr/>
        </p:nvSpPr>
        <p:spPr>
          <a:xfrm>
            <a:off x="7370064" y="5276088"/>
            <a:ext cx="1920241" cy="50292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9" name="Rectangle 38"/>
          <p:cNvSpPr/>
          <p:nvPr/>
        </p:nvSpPr>
        <p:spPr>
          <a:xfrm>
            <a:off x="7370064" y="5276088"/>
            <a:ext cx="45721" cy="502920"/>
          </a:xfrm>
          <a:prstGeom prst="rect">
            <a:avLst/>
          </a:prstGeom>
          <a:solidFill>
            <a:srgbClr val="058AA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TextBox 39"/>
          <p:cNvSpPr txBox="1"/>
          <p:nvPr/>
        </p:nvSpPr>
        <p:spPr>
          <a:xfrm>
            <a:off x="7598663" y="5385815"/>
            <a:ext cx="150876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Action Items</a:t>
            </a:r>
          </a:p>
        </p:txBody>
      </p:sp>
      <p:sp>
        <p:nvSpPr>
          <p:cNvPr id="441" name="Rectangle 40"/>
          <p:cNvSpPr/>
          <p:nvPr/>
        </p:nvSpPr>
        <p:spPr>
          <a:xfrm>
            <a:off x="9582911" y="5276088"/>
            <a:ext cx="1920241" cy="50292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2" name="Rectangle 41"/>
          <p:cNvSpPr/>
          <p:nvPr/>
        </p:nvSpPr>
        <p:spPr>
          <a:xfrm>
            <a:off x="9582911" y="5276088"/>
            <a:ext cx="45721" cy="502920"/>
          </a:xfrm>
          <a:prstGeom prst="rect">
            <a:avLst/>
          </a:prstGeom>
          <a:solidFill>
            <a:srgbClr val="058AA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3" name="TextBox 42"/>
          <p:cNvSpPr txBox="1"/>
          <p:nvPr/>
        </p:nvSpPr>
        <p:spPr>
          <a:xfrm>
            <a:off x="9811512" y="5385815"/>
            <a:ext cx="150876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Publish to Confluence</a:t>
            </a:r>
          </a:p>
        </p:txBody>
      </p:sp>
      <p:sp>
        <p:nvSpPr>
          <p:cNvPr id="444" name="Rectangle 43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5" name="TextBox 44"/>
          <p:cNvSpPr txBox="1"/>
          <p:nvPr/>
        </p:nvSpPr>
        <p:spPr>
          <a:xfrm>
            <a:off x="777239" y="6492240"/>
            <a:ext cx="4480561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sz="900">
                <a:solidFill>
                  <a:srgbClr val="3A5058"/>
                </a:solidFill>
              </a:defRPr>
            </a:lvl1pPr>
          </a:lstStyle>
          <a:p>
            <a:pPr/>
            <a:r>
              <a:t>Debug Duck  |  Autonomous SRE Platform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ctangle 1"/>
          <p:cNvSpPr/>
          <p:nvPr/>
        </p:nvSpPr>
        <p:spPr>
          <a:xfrm>
            <a:off x="731519" y="457199"/>
            <a:ext cx="54865" cy="365762"/>
          </a:xfrm>
          <a:prstGeom prst="rect">
            <a:avLst/>
          </a:prstGeom>
          <a:solidFill>
            <a:srgbClr val="A78B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8" name="TextBox 2"/>
          <p:cNvSpPr txBox="1"/>
          <p:nvPr/>
        </p:nvSpPr>
        <p:spPr>
          <a:xfrm>
            <a:off x="978408" y="457199"/>
            <a:ext cx="35661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A78BF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COMPETITIVE EDGE</a:t>
            </a:r>
          </a:p>
        </p:txBody>
      </p:sp>
      <p:sp>
        <p:nvSpPr>
          <p:cNvPr id="449" name="TextBox 3"/>
          <p:cNvSpPr txBox="1"/>
          <p:nvPr/>
        </p:nvSpPr>
        <p:spPr>
          <a:xfrm>
            <a:off x="777239" y="1051560"/>
            <a:ext cx="996696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Why Debug Duck Wins</a:t>
            </a:r>
          </a:p>
        </p:txBody>
      </p:sp>
      <p:sp>
        <p:nvSpPr>
          <p:cNvPr id="450" name="Rectangle 4"/>
          <p:cNvSpPr/>
          <p:nvPr/>
        </p:nvSpPr>
        <p:spPr>
          <a:xfrm>
            <a:off x="731519" y="2011679"/>
            <a:ext cx="2926082" cy="50292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1" name="TextBox 5"/>
          <p:cNvSpPr txBox="1"/>
          <p:nvPr/>
        </p:nvSpPr>
        <p:spPr>
          <a:xfrm>
            <a:off x="914399" y="2084831"/>
            <a:ext cx="2560322" cy="241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b="1" sz="1000">
                <a:solidFill>
                  <a:srgbClr val="6B8A9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52" name="Rectangle 6"/>
          <p:cNvSpPr/>
          <p:nvPr/>
        </p:nvSpPr>
        <p:spPr>
          <a:xfrm>
            <a:off x="3794759" y="2011679"/>
            <a:ext cx="1828801" cy="502920"/>
          </a:xfrm>
          <a:prstGeom prst="rect">
            <a:avLst/>
          </a:prstGeom>
          <a:solidFill>
            <a:srgbClr val="173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Rectangle 7"/>
          <p:cNvSpPr/>
          <p:nvPr/>
        </p:nvSpPr>
        <p:spPr>
          <a:xfrm>
            <a:off x="3794759" y="2011679"/>
            <a:ext cx="1828801" cy="36577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4" name="TextBox 8"/>
          <p:cNvSpPr txBox="1"/>
          <p:nvPr/>
        </p:nvSpPr>
        <p:spPr>
          <a:xfrm>
            <a:off x="3977640" y="2084831"/>
            <a:ext cx="1463041" cy="241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200"/>
              </a:lnSpc>
              <a:defRPr b="1" sz="10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Debug Duck</a:t>
            </a:r>
          </a:p>
        </p:txBody>
      </p:sp>
      <p:sp>
        <p:nvSpPr>
          <p:cNvPr id="455" name="Rectangle 9"/>
          <p:cNvSpPr/>
          <p:nvPr/>
        </p:nvSpPr>
        <p:spPr>
          <a:xfrm>
            <a:off x="5760720" y="2011679"/>
            <a:ext cx="1828801" cy="50292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6" name="TextBox 10"/>
          <p:cNvSpPr txBox="1"/>
          <p:nvPr/>
        </p:nvSpPr>
        <p:spPr>
          <a:xfrm>
            <a:off x="5943599" y="2084831"/>
            <a:ext cx="1463041" cy="393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b="1" sz="1000">
                <a:solidFill>
                  <a:srgbClr val="6B8A92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PagerDuty</a:t>
            </a:r>
            <a:br/>
            <a:r>
              <a:t>Copilot</a:t>
            </a:r>
          </a:p>
        </p:txBody>
      </p:sp>
      <p:sp>
        <p:nvSpPr>
          <p:cNvPr id="457" name="Rectangle 11"/>
          <p:cNvSpPr/>
          <p:nvPr/>
        </p:nvSpPr>
        <p:spPr>
          <a:xfrm>
            <a:off x="7726680" y="2011679"/>
            <a:ext cx="1828801" cy="50292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8" name="TextBox 12"/>
          <p:cNvSpPr txBox="1"/>
          <p:nvPr/>
        </p:nvSpPr>
        <p:spPr>
          <a:xfrm>
            <a:off x="7909560" y="2084831"/>
            <a:ext cx="1463041" cy="393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b="1" sz="1000">
                <a:solidFill>
                  <a:srgbClr val="6B8A92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Datadog</a:t>
            </a:r>
            <a:br/>
            <a:r>
              <a:t>Watchdog</a:t>
            </a:r>
          </a:p>
        </p:txBody>
      </p:sp>
      <p:sp>
        <p:nvSpPr>
          <p:cNvPr id="459" name="Rectangle 13"/>
          <p:cNvSpPr/>
          <p:nvPr/>
        </p:nvSpPr>
        <p:spPr>
          <a:xfrm>
            <a:off x="9692640" y="2011679"/>
            <a:ext cx="1828801" cy="50292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0" name="TextBox 14"/>
          <p:cNvSpPr txBox="1"/>
          <p:nvPr/>
        </p:nvSpPr>
        <p:spPr>
          <a:xfrm>
            <a:off x="9875519" y="2084831"/>
            <a:ext cx="1463042" cy="393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b="1" sz="1000">
                <a:solidFill>
                  <a:srgbClr val="6B8A92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Shoreline</a:t>
            </a:r>
            <a:br/>
            <a:r>
              <a:t>Runbook</a:t>
            </a:r>
          </a:p>
        </p:txBody>
      </p:sp>
      <p:sp>
        <p:nvSpPr>
          <p:cNvPr id="461" name="Rectangle 15"/>
          <p:cNvSpPr/>
          <p:nvPr/>
        </p:nvSpPr>
        <p:spPr>
          <a:xfrm>
            <a:off x="731519" y="2606039"/>
            <a:ext cx="2926082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2" name="TextBox 16"/>
          <p:cNvSpPr txBox="1"/>
          <p:nvPr/>
        </p:nvSpPr>
        <p:spPr>
          <a:xfrm>
            <a:off x="914399" y="2679192"/>
            <a:ext cx="256032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Multi-Agent Root Cause</a:t>
            </a:r>
          </a:p>
        </p:txBody>
      </p:sp>
      <p:sp>
        <p:nvSpPr>
          <p:cNvPr id="463" name="Rectangle 17"/>
          <p:cNvSpPr/>
          <p:nvPr/>
        </p:nvSpPr>
        <p:spPr>
          <a:xfrm>
            <a:off x="3794759" y="2606039"/>
            <a:ext cx="1828801" cy="402337"/>
          </a:xfrm>
          <a:prstGeom prst="rect">
            <a:avLst/>
          </a:prstGeom>
          <a:solidFill>
            <a:srgbClr val="173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4" name="TextBox 18"/>
          <p:cNvSpPr txBox="1"/>
          <p:nvPr/>
        </p:nvSpPr>
        <p:spPr>
          <a:xfrm>
            <a:off x="3931919" y="2679192"/>
            <a:ext cx="155448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10B98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6 agents</a:t>
            </a:r>
          </a:p>
        </p:txBody>
      </p:sp>
      <p:sp>
        <p:nvSpPr>
          <p:cNvPr id="465" name="Rectangle 19"/>
          <p:cNvSpPr/>
          <p:nvPr/>
        </p:nvSpPr>
        <p:spPr>
          <a:xfrm>
            <a:off x="5760720" y="2606039"/>
            <a:ext cx="1828801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TextBox 20"/>
          <p:cNvSpPr txBox="1"/>
          <p:nvPr/>
        </p:nvSpPr>
        <p:spPr>
          <a:xfrm>
            <a:off x="5897879" y="2679192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Single</a:t>
            </a:r>
          </a:p>
        </p:txBody>
      </p:sp>
      <p:sp>
        <p:nvSpPr>
          <p:cNvPr id="467" name="Rectangle 21"/>
          <p:cNvSpPr/>
          <p:nvPr/>
        </p:nvSpPr>
        <p:spPr>
          <a:xfrm>
            <a:off x="7726680" y="2606039"/>
            <a:ext cx="1828801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8" name="TextBox 22"/>
          <p:cNvSpPr txBox="1"/>
          <p:nvPr/>
        </p:nvSpPr>
        <p:spPr>
          <a:xfrm>
            <a:off x="7863839" y="2679192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200"/>
              </a:lnSpc>
              <a:defRPr sz="1000">
                <a:solidFill>
                  <a:srgbClr val="FBBF24"/>
                </a:solidFill>
              </a:defRPr>
            </a:lvl1pPr>
          </a:lstStyle>
          <a:p>
            <a:pPr/>
            <a:r>
              <a:t>~ Partial</a:t>
            </a:r>
          </a:p>
        </p:txBody>
      </p:sp>
      <p:sp>
        <p:nvSpPr>
          <p:cNvPr id="469" name="Rectangle 23"/>
          <p:cNvSpPr/>
          <p:nvPr/>
        </p:nvSpPr>
        <p:spPr>
          <a:xfrm>
            <a:off x="9692640" y="2606039"/>
            <a:ext cx="1828801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0" name="TextBox 24"/>
          <p:cNvSpPr txBox="1"/>
          <p:nvPr/>
        </p:nvSpPr>
        <p:spPr>
          <a:xfrm>
            <a:off x="9829800" y="2679192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Manual</a:t>
            </a:r>
          </a:p>
        </p:txBody>
      </p:sp>
      <p:sp>
        <p:nvSpPr>
          <p:cNvPr id="471" name="Rectangle 25"/>
          <p:cNvSpPr/>
          <p:nvPr/>
        </p:nvSpPr>
        <p:spPr>
          <a:xfrm>
            <a:off x="731519" y="3081527"/>
            <a:ext cx="2926082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2" name="TextBox 26"/>
          <p:cNvSpPr txBox="1"/>
          <p:nvPr/>
        </p:nvSpPr>
        <p:spPr>
          <a:xfrm>
            <a:off x="914399" y="3154679"/>
            <a:ext cx="256032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Causal Graph Analysis</a:t>
            </a:r>
          </a:p>
        </p:txBody>
      </p:sp>
      <p:sp>
        <p:nvSpPr>
          <p:cNvPr id="473" name="Rectangle 27"/>
          <p:cNvSpPr/>
          <p:nvPr/>
        </p:nvSpPr>
        <p:spPr>
          <a:xfrm>
            <a:off x="3794759" y="3081527"/>
            <a:ext cx="1828801" cy="402337"/>
          </a:xfrm>
          <a:prstGeom prst="rect">
            <a:avLst/>
          </a:prstGeom>
          <a:solidFill>
            <a:srgbClr val="173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4" name="TextBox 28"/>
          <p:cNvSpPr txBox="1"/>
          <p:nvPr/>
        </p:nvSpPr>
        <p:spPr>
          <a:xfrm>
            <a:off x="3931919" y="3154679"/>
            <a:ext cx="155448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10B98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Full</a:t>
            </a:r>
          </a:p>
        </p:txBody>
      </p:sp>
      <p:sp>
        <p:nvSpPr>
          <p:cNvPr id="475" name="Rectangle 29"/>
          <p:cNvSpPr/>
          <p:nvPr/>
        </p:nvSpPr>
        <p:spPr>
          <a:xfrm>
            <a:off x="5760720" y="3081527"/>
            <a:ext cx="1828801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TextBox 30"/>
          <p:cNvSpPr txBox="1"/>
          <p:nvPr/>
        </p:nvSpPr>
        <p:spPr>
          <a:xfrm>
            <a:off x="5897879" y="3154679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</a:t>
            </a:r>
          </a:p>
        </p:txBody>
      </p:sp>
      <p:sp>
        <p:nvSpPr>
          <p:cNvPr id="477" name="Rectangle 31"/>
          <p:cNvSpPr/>
          <p:nvPr/>
        </p:nvSpPr>
        <p:spPr>
          <a:xfrm>
            <a:off x="7726680" y="3081527"/>
            <a:ext cx="1828801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8" name="TextBox 32"/>
          <p:cNvSpPr txBox="1"/>
          <p:nvPr/>
        </p:nvSpPr>
        <p:spPr>
          <a:xfrm>
            <a:off x="7863839" y="3154679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200"/>
              </a:lnSpc>
              <a:defRPr sz="1000">
                <a:solidFill>
                  <a:srgbClr val="FBBF24"/>
                </a:solidFill>
              </a:defRPr>
            </a:lvl1pPr>
          </a:lstStyle>
          <a:p>
            <a:pPr/>
            <a:r>
              <a:t>~ Basic</a:t>
            </a:r>
          </a:p>
        </p:txBody>
      </p:sp>
      <p:sp>
        <p:nvSpPr>
          <p:cNvPr id="479" name="Rectangle 33"/>
          <p:cNvSpPr/>
          <p:nvPr/>
        </p:nvSpPr>
        <p:spPr>
          <a:xfrm>
            <a:off x="9692640" y="3081527"/>
            <a:ext cx="1828801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0" name="TextBox 34"/>
          <p:cNvSpPr txBox="1"/>
          <p:nvPr/>
        </p:nvSpPr>
        <p:spPr>
          <a:xfrm>
            <a:off x="9829800" y="3154679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</a:t>
            </a:r>
          </a:p>
        </p:txBody>
      </p:sp>
      <p:sp>
        <p:nvSpPr>
          <p:cNvPr id="481" name="Rectangle 35"/>
          <p:cNvSpPr/>
          <p:nvPr/>
        </p:nvSpPr>
        <p:spPr>
          <a:xfrm>
            <a:off x="731519" y="3557015"/>
            <a:ext cx="2926082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2" name="TextBox 36"/>
          <p:cNvSpPr txBox="1"/>
          <p:nvPr/>
        </p:nvSpPr>
        <p:spPr>
          <a:xfrm>
            <a:off x="914399" y="3630167"/>
            <a:ext cx="256032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Patient Zero Detection</a:t>
            </a:r>
          </a:p>
        </p:txBody>
      </p:sp>
      <p:sp>
        <p:nvSpPr>
          <p:cNvPr id="483" name="Rectangle 37"/>
          <p:cNvSpPr/>
          <p:nvPr/>
        </p:nvSpPr>
        <p:spPr>
          <a:xfrm>
            <a:off x="3794759" y="3557015"/>
            <a:ext cx="1828801" cy="402337"/>
          </a:xfrm>
          <a:prstGeom prst="rect">
            <a:avLst/>
          </a:prstGeom>
          <a:solidFill>
            <a:srgbClr val="173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4" name="TextBox 38"/>
          <p:cNvSpPr txBox="1"/>
          <p:nvPr/>
        </p:nvSpPr>
        <p:spPr>
          <a:xfrm>
            <a:off x="3931919" y="3630167"/>
            <a:ext cx="155448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10B98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Yes</a:t>
            </a:r>
          </a:p>
        </p:txBody>
      </p:sp>
      <p:sp>
        <p:nvSpPr>
          <p:cNvPr id="485" name="Rectangle 39"/>
          <p:cNvSpPr/>
          <p:nvPr/>
        </p:nvSpPr>
        <p:spPr>
          <a:xfrm>
            <a:off x="5760720" y="3557015"/>
            <a:ext cx="1828801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6" name="TextBox 40"/>
          <p:cNvSpPr txBox="1"/>
          <p:nvPr/>
        </p:nvSpPr>
        <p:spPr>
          <a:xfrm>
            <a:off x="5897879" y="3630167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</a:t>
            </a:r>
          </a:p>
        </p:txBody>
      </p:sp>
      <p:sp>
        <p:nvSpPr>
          <p:cNvPr id="487" name="Rectangle 41"/>
          <p:cNvSpPr/>
          <p:nvPr/>
        </p:nvSpPr>
        <p:spPr>
          <a:xfrm>
            <a:off x="7726680" y="3557015"/>
            <a:ext cx="1828801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8" name="TextBox 42"/>
          <p:cNvSpPr txBox="1"/>
          <p:nvPr/>
        </p:nvSpPr>
        <p:spPr>
          <a:xfrm>
            <a:off x="7863839" y="3630167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200"/>
              </a:lnSpc>
              <a:defRPr sz="1000">
                <a:solidFill>
                  <a:srgbClr val="FBBF24"/>
                </a:solidFill>
              </a:defRPr>
            </a:lvl1pPr>
          </a:lstStyle>
          <a:p>
            <a:pPr/>
            <a:r>
              <a:t>~ Partial</a:t>
            </a:r>
          </a:p>
        </p:txBody>
      </p:sp>
      <p:sp>
        <p:nvSpPr>
          <p:cNvPr id="489" name="Rectangle 43"/>
          <p:cNvSpPr/>
          <p:nvPr/>
        </p:nvSpPr>
        <p:spPr>
          <a:xfrm>
            <a:off x="9692640" y="3557015"/>
            <a:ext cx="1828801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0" name="TextBox 44"/>
          <p:cNvSpPr txBox="1"/>
          <p:nvPr/>
        </p:nvSpPr>
        <p:spPr>
          <a:xfrm>
            <a:off x="9829800" y="3630167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</a:t>
            </a:r>
          </a:p>
        </p:txBody>
      </p:sp>
      <p:sp>
        <p:nvSpPr>
          <p:cNvPr id="491" name="Rectangle 45"/>
          <p:cNvSpPr/>
          <p:nvPr/>
        </p:nvSpPr>
        <p:spPr>
          <a:xfrm>
            <a:off x="731519" y="4032503"/>
            <a:ext cx="2926082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2" name="TextBox 46"/>
          <p:cNvSpPr txBox="1"/>
          <p:nvPr/>
        </p:nvSpPr>
        <p:spPr>
          <a:xfrm>
            <a:off x="914399" y="4105655"/>
            <a:ext cx="256032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Auto Fix + PR Creation</a:t>
            </a:r>
          </a:p>
        </p:txBody>
      </p:sp>
      <p:sp>
        <p:nvSpPr>
          <p:cNvPr id="493" name="Rectangle 47"/>
          <p:cNvSpPr/>
          <p:nvPr/>
        </p:nvSpPr>
        <p:spPr>
          <a:xfrm>
            <a:off x="3794759" y="4032503"/>
            <a:ext cx="1828801" cy="402337"/>
          </a:xfrm>
          <a:prstGeom prst="rect">
            <a:avLst/>
          </a:prstGeom>
          <a:solidFill>
            <a:srgbClr val="173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4" name="TextBox 48"/>
          <p:cNvSpPr txBox="1"/>
          <p:nvPr/>
        </p:nvSpPr>
        <p:spPr>
          <a:xfrm>
            <a:off x="3931919" y="4105655"/>
            <a:ext cx="155448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10B98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Yes</a:t>
            </a:r>
          </a:p>
        </p:txBody>
      </p:sp>
      <p:sp>
        <p:nvSpPr>
          <p:cNvPr id="495" name="Rectangle 49"/>
          <p:cNvSpPr/>
          <p:nvPr/>
        </p:nvSpPr>
        <p:spPr>
          <a:xfrm>
            <a:off x="5760720" y="4032503"/>
            <a:ext cx="1828801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6" name="TextBox 50"/>
          <p:cNvSpPr txBox="1"/>
          <p:nvPr/>
        </p:nvSpPr>
        <p:spPr>
          <a:xfrm>
            <a:off x="5897879" y="4105655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</a:t>
            </a:r>
          </a:p>
        </p:txBody>
      </p:sp>
      <p:sp>
        <p:nvSpPr>
          <p:cNvPr id="497" name="Rectangle 51"/>
          <p:cNvSpPr/>
          <p:nvPr/>
        </p:nvSpPr>
        <p:spPr>
          <a:xfrm>
            <a:off x="7726680" y="4032503"/>
            <a:ext cx="1828801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8" name="TextBox 52"/>
          <p:cNvSpPr txBox="1"/>
          <p:nvPr/>
        </p:nvSpPr>
        <p:spPr>
          <a:xfrm>
            <a:off x="7863839" y="4105655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</a:t>
            </a:r>
          </a:p>
        </p:txBody>
      </p:sp>
      <p:sp>
        <p:nvSpPr>
          <p:cNvPr id="499" name="Rectangle 53"/>
          <p:cNvSpPr/>
          <p:nvPr/>
        </p:nvSpPr>
        <p:spPr>
          <a:xfrm>
            <a:off x="9692640" y="4032503"/>
            <a:ext cx="1828801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0" name="TextBox 54"/>
          <p:cNvSpPr txBox="1"/>
          <p:nvPr/>
        </p:nvSpPr>
        <p:spPr>
          <a:xfrm>
            <a:off x="9829800" y="4105655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200"/>
              </a:lnSpc>
              <a:defRPr sz="1000">
                <a:solidFill>
                  <a:srgbClr val="FBBF24"/>
                </a:solidFill>
              </a:defRPr>
            </a:lvl1pPr>
          </a:lstStyle>
          <a:p>
            <a:pPr/>
            <a:r>
              <a:t>~ Runbook</a:t>
            </a:r>
          </a:p>
        </p:txBody>
      </p:sp>
      <p:sp>
        <p:nvSpPr>
          <p:cNvPr id="501" name="Rectangle 55"/>
          <p:cNvSpPr/>
          <p:nvPr/>
        </p:nvSpPr>
        <p:spPr>
          <a:xfrm>
            <a:off x="731519" y="4507991"/>
            <a:ext cx="2926082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2" name="TextBox 56"/>
          <p:cNvSpPr txBox="1"/>
          <p:nvPr/>
        </p:nvSpPr>
        <p:spPr>
          <a:xfrm>
            <a:off x="914399" y="4581144"/>
            <a:ext cx="256032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Critic Validation Layer</a:t>
            </a:r>
          </a:p>
        </p:txBody>
      </p:sp>
      <p:sp>
        <p:nvSpPr>
          <p:cNvPr id="503" name="Rectangle 57"/>
          <p:cNvSpPr/>
          <p:nvPr/>
        </p:nvSpPr>
        <p:spPr>
          <a:xfrm>
            <a:off x="3794759" y="4507991"/>
            <a:ext cx="1828801" cy="402337"/>
          </a:xfrm>
          <a:prstGeom prst="rect">
            <a:avLst/>
          </a:prstGeom>
          <a:solidFill>
            <a:srgbClr val="173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4" name="TextBox 58"/>
          <p:cNvSpPr txBox="1"/>
          <p:nvPr/>
        </p:nvSpPr>
        <p:spPr>
          <a:xfrm>
            <a:off x="3931919" y="4581144"/>
            <a:ext cx="155448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10B98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Built-in</a:t>
            </a:r>
          </a:p>
        </p:txBody>
      </p:sp>
      <p:sp>
        <p:nvSpPr>
          <p:cNvPr id="505" name="Rectangle 59"/>
          <p:cNvSpPr/>
          <p:nvPr/>
        </p:nvSpPr>
        <p:spPr>
          <a:xfrm>
            <a:off x="5760720" y="4507991"/>
            <a:ext cx="1828801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6" name="TextBox 60"/>
          <p:cNvSpPr txBox="1"/>
          <p:nvPr/>
        </p:nvSpPr>
        <p:spPr>
          <a:xfrm>
            <a:off x="5897879" y="4581144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</a:t>
            </a:r>
          </a:p>
        </p:txBody>
      </p:sp>
      <p:sp>
        <p:nvSpPr>
          <p:cNvPr id="507" name="Rectangle 61"/>
          <p:cNvSpPr/>
          <p:nvPr/>
        </p:nvSpPr>
        <p:spPr>
          <a:xfrm>
            <a:off x="7726680" y="4507991"/>
            <a:ext cx="1828801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8" name="TextBox 62"/>
          <p:cNvSpPr txBox="1"/>
          <p:nvPr/>
        </p:nvSpPr>
        <p:spPr>
          <a:xfrm>
            <a:off x="7863839" y="4581144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</a:t>
            </a:r>
          </a:p>
        </p:txBody>
      </p:sp>
      <p:sp>
        <p:nvSpPr>
          <p:cNvPr id="509" name="Rectangle 63"/>
          <p:cNvSpPr/>
          <p:nvPr/>
        </p:nvSpPr>
        <p:spPr>
          <a:xfrm>
            <a:off x="9692640" y="4507991"/>
            <a:ext cx="1828801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0" name="TextBox 64"/>
          <p:cNvSpPr txBox="1"/>
          <p:nvPr/>
        </p:nvSpPr>
        <p:spPr>
          <a:xfrm>
            <a:off x="9829800" y="4581144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</a:t>
            </a:r>
          </a:p>
        </p:txBody>
      </p:sp>
      <p:sp>
        <p:nvSpPr>
          <p:cNvPr id="511" name="Rectangle 65"/>
          <p:cNvSpPr/>
          <p:nvPr/>
        </p:nvSpPr>
        <p:spPr>
          <a:xfrm>
            <a:off x="731519" y="4983479"/>
            <a:ext cx="2926082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2" name="TextBox 66"/>
          <p:cNvSpPr txBox="1"/>
          <p:nvPr/>
        </p:nvSpPr>
        <p:spPr>
          <a:xfrm>
            <a:off x="914399" y="5056632"/>
            <a:ext cx="256032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Evidence Reasoning Chain</a:t>
            </a:r>
          </a:p>
        </p:txBody>
      </p:sp>
      <p:sp>
        <p:nvSpPr>
          <p:cNvPr id="513" name="Rectangle 67"/>
          <p:cNvSpPr/>
          <p:nvPr/>
        </p:nvSpPr>
        <p:spPr>
          <a:xfrm>
            <a:off x="3794759" y="4983479"/>
            <a:ext cx="1828801" cy="402337"/>
          </a:xfrm>
          <a:prstGeom prst="rect">
            <a:avLst/>
          </a:prstGeom>
          <a:solidFill>
            <a:srgbClr val="173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4" name="TextBox 68"/>
          <p:cNvSpPr txBox="1"/>
          <p:nvPr/>
        </p:nvSpPr>
        <p:spPr>
          <a:xfrm>
            <a:off x="3931919" y="5056632"/>
            <a:ext cx="155448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10B98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Full</a:t>
            </a:r>
          </a:p>
        </p:txBody>
      </p:sp>
      <p:sp>
        <p:nvSpPr>
          <p:cNvPr id="515" name="Rectangle 69"/>
          <p:cNvSpPr/>
          <p:nvPr/>
        </p:nvSpPr>
        <p:spPr>
          <a:xfrm>
            <a:off x="5760720" y="4983479"/>
            <a:ext cx="1828801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6" name="TextBox 70"/>
          <p:cNvSpPr txBox="1"/>
          <p:nvPr/>
        </p:nvSpPr>
        <p:spPr>
          <a:xfrm>
            <a:off x="5897879" y="5056632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</a:t>
            </a:r>
          </a:p>
        </p:txBody>
      </p:sp>
      <p:sp>
        <p:nvSpPr>
          <p:cNvPr id="517" name="Rectangle 71"/>
          <p:cNvSpPr/>
          <p:nvPr/>
        </p:nvSpPr>
        <p:spPr>
          <a:xfrm>
            <a:off x="7726680" y="4983479"/>
            <a:ext cx="1828801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8" name="TextBox 72"/>
          <p:cNvSpPr txBox="1"/>
          <p:nvPr/>
        </p:nvSpPr>
        <p:spPr>
          <a:xfrm>
            <a:off x="7863839" y="5056632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200"/>
              </a:lnSpc>
              <a:defRPr sz="1000">
                <a:solidFill>
                  <a:srgbClr val="FBBF24"/>
                </a:solidFill>
              </a:defRPr>
            </a:lvl1pPr>
          </a:lstStyle>
          <a:p>
            <a:pPr/>
            <a:r>
              <a:t>~ Partial</a:t>
            </a:r>
          </a:p>
        </p:txBody>
      </p:sp>
      <p:sp>
        <p:nvSpPr>
          <p:cNvPr id="519" name="Rectangle 73"/>
          <p:cNvSpPr/>
          <p:nvPr/>
        </p:nvSpPr>
        <p:spPr>
          <a:xfrm>
            <a:off x="9692640" y="4983479"/>
            <a:ext cx="1828801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0" name="TextBox 74"/>
          <p:cNvSpPr txBox="1"/>
          <p:nvPr/>
        </p:nvSpPr>
        <p:spPr>
          <a:xfrm>
            <a:off x="9829800" y="5056632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</a:t>
            </a:r>
          </a:p>
        </p:txBody>
      </p:sp>
      <p:sp>
        <p:nvSpPr>
          <p:cNvPr id="521" name="Rectangle 75"/>
          <p:cNvSpPr/>
          <p:nvPr/>
        </p:nvSpPr>
        <p:spPr>
          <a:xfrm>
            <a:off x="731519" y="5458967"/>
            <a:ext cx="2926082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2" name="TextBox 76"/>
          <p:cNvSpPr txBox="1"/>
          <p:nvPr/>
        </p:nvSpPr>
        <p:spPr>
          <a:xfrm>
            <a:off x="914399" y="5532120"/>
            <a:ext cx="256032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LLM Postmortem Generation</a:t>
            </a:r>
          </a:p>
        </p:txBody>
      </p:sp>
      <p:sp>
        <p:nvSpPr>
          <p:cNvPr id="523" name="Rectangle 77"/>
          <p:cNvSpPr/>
          <p:nvPr/>
        </p:nvSpPr>
        <p:spPr>
          <a:xfrm>
            <a:off x="3794759" y="5458967"/>
            <a:ext cx="1828801" cy="402337"/>
          </a:xfrm>
          <a:prstGeom prst="rect">
            <a:avLst/>
          </a:prstGeom>
          <a:solidFill>
            <a:srgbClr val="173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4" name="TextBox 78"/>
          <p:cNvSpPr txBox="1"/>
          <p:nvPr/>
        </p:nvSpPr>
        <p:spPr>
          <a:xfrm>
            <a:off x="3931919" y="5532120"/>
            <a:ext cx="155448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10B98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10-section</a:t>
            </a:r>
          </a:p>
        </p:txBody>
      </p:sp>
      <p:sp>
        <p:nvSpPr>
          <p:cNvPr id="525" name="Rectangle 79"/>
          <p:cNvSpPr/>
          <p:nvPr/>
        </p:nvSpPr>
        <p:spPr>
          <a:xfrm>
            <a:off x="5760720" y="5458967"/>
            <a:ext cx="1828801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6" name="TextBox 80"/>
          <p:cNvSpPr txBox="1"/>
          <p:nvPr/>
        </p:nvSpPr>
        <p:spPr>
          <a:xfrm>
            <a:off x="5897879" y="5532120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200"/>
              </a:lnSpc>
              <a:defRPr sz="1000">
                <a:solidFill>
                  <a:srgbClr val="FBBF24"/>
                </a:solidFill>
              </a:defRPr>
            </a:lvl1pPr>
          </a:lstStyle>
          <a:p>
            <a:pPr/>
            <a:r>
              <a:t>~ Basic</a:t>
            </a:r>
          </a:p>
        </p:txBody>
      </p:sp>
      <p:sp>
        <p:nvSpPr>
          <p:cNvPr id="527" name="Rectangle 81"/>
          <p:cNvSpPr/>
          <p:nvPr/>
        </p:nvSpPr>
        <p:spPr>
          <a:xfrm>
            <a:off x="7726680" y="5458967"/>
            <a:ext cx="1828801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8" name="TextBox 82"/>
          <p:cNvSpPr txBox="1"/>
          <p:nvPr/>
        </p:nvSpPr>
        <p:spPr>
          <a:xfrm>
            <a:off x="7863839" y="5532120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</a:t>
            </a:r>
          </a:p>
        </p:txBody>
      </p:sp>
      <p:sp>
        <p:nvSpPr>
          <p:cNvPr id="529" name="Rectangle 83"/>
          <p:cNvSpPr/>
          <p:nvPr/>
        </p:nvSpPr>
        <p:spPr>
          <a:xfrm>
            <a:off x="9692640" y="5458967"/>
            <a:ext cx="1828801" cy="402337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0" name="TextBox 84"/>
          <p:cNvSpPr txBox="1"/>
          <p:nvPr/>
        </p:nvSpPr>
        <p:spPr>
          <a:xfrm>
            <a:off x="9829800" y="5532120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No</a:t>
            </a:r>
          </a:p>
        </p:txBody>
      </p:sp>
      <p:sp>
        <p:nvSpPr>
          <p:cNvPr id="531" name="Rectangle 85"/>
          <p:cNvSpPr/>
          <p:nvPr/>
        </p:nvSpPr>
        <p:spPr>
          <a:xfrm>
            <a:off x="731519" y="5934455"/>
            <a:ext cx="2926082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2" name="TextBox 86"/>
          <p:cNvSpPr txBox="1"/>
          <p:nvPr/>
        </p:nvSpPr>
        <p:spPr>
          <a:xfrm>
            <a:off x="914399" y="6007608"/>
            <a:ext cx="256032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Human-in-the-Loop Gates</a:t>
            </a:r>
          </a:p>
        </p:txBody>
      </p:sp>
      <p:sp>
        <p:nvSpPr>
          <p:cNvPr id="533" name="Rectangle 87"/>
          <p:cNvSpPr/>
          <p:nvPr/>
        </p:nvSpPr>
        <p:spPr>
          <a:xfrm>
            <a:off x="3794759" y="5934455"/>
            <a:ext cx="1828801" cy="402337"/>
          </a:xfrm>
          <a:prstGeom prst="rect">
            <a:avLst/>
          </a:prstGeom>
          <a:solidFill>
            <a:srgbClr val="17303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4" name="TextBox 88"/>
          <p:cNvSpPr txBox="1"/>
          <p:nvPr/>
        </p:nvSpPr>
        <p:spPr>
          <a:xfrm>
            <a:off x="3931919" y="6007608"/>
            <a:ext cx="1554482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10B98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Every phase</a:t>
            </a:r>
          </a:p>
        </p:txBody>
      </p:sp>
      <p:sp>
        <p:nvSpPr>
          <p:cNvPr id="535" name="Rectangle 89"/>
          <p:cNvSpPr/>
          <p:nvPr/>
        </p:nvSpPr>
        <p:spPr>
          <a:xfrm>
            <a:off x="5760720" y="5934455"/>
            <a:ext cx="1828801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6" name="TextBox 90"/>
          <p:cNvSpPr txBox="1"/>
          <p:nvPr/>
        </p:nvSpPr>
        <p:spPr>
          <a:xfrm>
            <a:off x="5897879" y="6007608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N/A</a:t>
            </a:r>
          </a:p>
        </p:txBody>
      </p:sp>
      <p:sp>
        <p:nvSpPr>
          <p:cNvPr id="537" name="Rectangle 91"/>
          <p:cNvSpPr/>
          <p:nvPr/>
        </p:nvSpPr>
        <p:spPr>
          <a:xfrm>
            <a:off x="7726680" y="5934455"/>
            <a:ext cx="1828801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8" name="TextBox 92"/>
          <p:cNvSpPr txBox="1"/>
          <p:nvPr/>
        </p:nvSpPr>
        <p:spPr>
          <a:xfrm>
            <a:off x="7863839" y="6007608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1200"/>
              </a:lnSpc>
              <a:defRPr sz="1000">
                <a:solidFill>
                  <a:srgbClr val="EF444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N/A</a:t>
            </a:r>
          </a:p>
        </p:txBody>
      </p:sp>
      <p:sp>
        <p:nvSpPr>
          <p:cNvPr id="539" name="Rectangle 93"/>
          <p:cNvSpPr/>
          <p:nvPr/>
        </p:nvSpPr>
        <p:spPr>
          <a:xfrm>
            <a:off x="9692640" y="5934455"/>
            <a:ext cx="1828801" cy="402337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0" name="TextBox 94"/>
          <p:cNvSpPr txBox="1"/>
          <p:nvPr/>
        </p:nvSpPr>
        <p:spPr>
          <a:xfrm>
            <a:off x="9829800" y="6007608"/>
            <a:ext cx="155448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200"/>
              </a:lnSpc>
              <a:defRPr sz="1000">
                <a:solidFill>
                  <a:srgbClr val="FBBF24"/>
                </a:solidFill>
              </a:defRPr>
            </a:lvl1pPr>
          </a:lstStyle>
          <a:p>
            <a:pPr/>
            <a:r>
              <a:t>~ Optional</a:t>
            </a:r>
          </a:p>
        </p:txBody>
      </p:sp>
      <p:sp>
        <p:nvSpPr>
          <p:cNvPr id="541" name="Rectangle 95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2" name="TextBox 96"/>
          <p:cNvSpPr txBox="1"/>
          <p:nvPr/>
        </p:nvSpPr>
        <p:spPr>
          <a:xfrm>
            <a:off x="777239" y="6492240"/>
            <a:ext cx="4480561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sz="900">
                <a:solidFill>
                  <a:srgbClr val="3A5058"/>
                </a:solidFill>
              </a:defRPr>
            </a:lvl1pPr>
          </a:lstStyle>
          <a:p>
            <a:pPr/>
            <a:r>
              <a:t>Debug Duck  |  Autonomous SRE Platform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Rectangle 1"/>
          <p:cNvSpPr/>
          <p:nvPr/>
        </p:nvSpPr>
        <p:spPr>
          <a:xfrm>
            <a:off x="731519" y="457199"/>
            <a:ext cx="54865" cy="365762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5" name="TextBox 2"/>
          <p:cNvSpPr txBox="1"/>
          <p:nvPr/>
        </p:nvSpPr>
        <p:spPr>
          <a:xfrm>
            <a:off x="978408" y="457199"/>
            <a:ext cx="35661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DIFFERENTIATORS</a:t>
            </a:r>
          </a:p>
        </p:txBody>
      </p:sp>
      <p:sp>
        <p:nvSpPr>
          <p:cNvPr id="546" name="TextBox 3"/>
          <p:cNvSpPr txBox="1"/>
          <p:nvPr/>
        </p:nvSpPr>
        <p:spPr>
          <a:xfrm>
            <a:off x="777239" y="1051560"/>
            <a:ext cx="996696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Technical Moat</a:t>
            </a:r>
          </a:p>
        </p:txBody>
      </p:sp>
      <p:sp>
        <p:nvSpPr>
          <p:cNvPr id="547" name="Rectangle 4"/>
          <p:cNvSpPr/>
          <p:nvPr/>
        </p:nvSpPr>
        <p:spPr>
          <a:xfrm>
            <a:off x="731519" y="1920239"/>
            <a:ext cx="10515601" cy="749809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8" name="Rectangle 5"/>
          <p:cNvSpPr/>
          <p:nvPr/>
        </p:nvSpPr>
        <p:spPr>
          <a:xfrm>
            <a:off x="731519" y="1920239"/>
            <a:ext cx="54865" cy="749809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9" name="TextBox 6"/>
          <p:cNvSpPr txBox="1"/>
          <p:nvPr/>
        </p:nvSpPr>
        <p:spPr>
          <a:xfrm>
            <a:off x="1143000" y="1993392"/>
            <a:ext cx="3108961" cy="29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Causal Analysis</a:t>
            </a:r>
          </a:p>
        </p:txBody>
      </p:sp>
      <p:sp>
        <p:nvSpPr>
          <p:cNvPr id="550" name="TextBox 7"/>
          <p:cNvSpPr txBox="1"/>
          <p:nvPr/>
        </p:nvSpPr>
        <p:spPr>
          <a:xfrm>
            <a:off x="1143000" y="2304288"/>
            <a:ext cx="950976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Determines root cause vs cascading symptoms vs correlated anomalies — goes beyond simple error detection.</a:t>
            </a:r>
          </a:p>
        </p:txBody>
      </p:sp>
      <p:sp>
        <p:nvSpPr>
          <p:cNvPr id="551" name="Rectangle 8"/>
          <p:cNvSpPr/>
          <p:nvPr/>
        </p:nvSpPr>
        <p:spPr>
          <a:xfrm>
            <a:off x="731519" y="2816351"/>
            <a:ext cx="10515601" cy="749809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2" name="Rectangle 9"/>
          <p:cNvSpPr/>
          <p:nvPr/>
        </p:nvSpPr>
        <p:spPr>
          <a:xfrm>
            <a:off x="731519" y="2816351"/>
            <a:ext cx="54865" cy="749809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3" name="TextBox 10"/>
          <p:cNvSpPr txBox="1"/>
          <p:nvPr/>
        </p:nvSpPr>
        <p:spPr>
          <a:xfrm>
            <a:off x="1143000" y="2889504"/>
            <a:ext cx="3108961" cy="29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Patient Zero Detection</a:t>
            </a:r>
          </a:p>
        </p:txBody>
      </p:sp>
      <p:sp>
        <p:nvSpPr>
          <p:cNvPr id="554" name="TextBox 11"/>
          <p:cNvSpPr txBox="1"/>
          <p:nvPr/>
        </p:nvSpPr>
        <p:spPr>
          <a:xfrm>
            <a:off x="1143000" y="3200399"/>
            <a:ext cx="950976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Identifies the first service and first error that triggered the entire incident cascade.</a:t>
            </a:r>
          </a:p>
        </p:txBody>
      </p:sp>
      <p:sp>
        <p:nvSpPr>
          <p:cNvPr id="555" name="Rectangle 12"/>
          <p:cNvSpPr/>
          <p:nvPr/>
        </p:nvSpPr>
        <p:spPr>
          <a:xfrm>
            <a:off x="731519" y="3712464"/>
            <a:ext cx="10515601" cy="749809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6" name="Rectangle 13"/>
          <p:cNvSpPr/>
          <p:nvPr/>
        </p:nvSpPr>
        <p:spPr>
          <a:xfrm>
            <a:off x="731519" y="3712464"/>
            <a:ext cx="54865" cy="749809"/>
          </a:xfrm>
          <a:prstGeom prst="rect">
            <a:avLst/>
          </a:prstGeom>
          <a:solidFill>
            <a:srgbClr val="F973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" name="TextBox 14"/>
          <p:cNvSpPr txBox="1"/>
          <p:nvPr/>
        </p:nvSpPr>
        <p:spPr>
          <a:xfrm>
            <a:off x="1143000" y="3785615"/>
            <a:ext cx="3108961" cy="293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Blast Radius Assessment</a:t>
            </a:r>
          </a:p>
        </p:txBody>
      </p:sp>
      <p:sp>
        <p:nvSpPr>
          <p:cNvPr id="558" name="TextBox 15"/>
          <p:cNvSpPr txBox="1"/>
          <p:nvPr/>
        </p:nvSpPr>
        <p:spPr>
          <a:xfrm>
            <a:off x="1143000" y="4096511"/>
            <a:ext cx="950976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Upstream/downstream impact mapping with user impact estimation and service dependency analysis.</a:t>
            </a:r>
          </a:p>
        </p:txBody>
      </p:sp>
      <p:sp>
        <p:nvSpPr>
          <p:cNvPr id="559" name="Rectangle 16"/>
          <p:cNvSpPr/>
          <p:nvPr/>
        </p:nvSpPr>
        <p:spPr>
          <a:xfrm>
            <a:off x="731519" y="4608576"/>
            <a:ext cx="10515601" cy="749809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0" name="Rectangle 17"/>
          <p:cNvSpPr/>
          <p:nvPr/>
        </p:nvSpPr>
        <p:spPr>
          <a:xfrm>
            <a:off x="731519" y="4608576"/>
            <a:ext cx="54865" cy="749809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1" name="TextBox 18"/>
          <p:cNvSpPr txBox="1"/>
          <p:nvPr/>
        </p:nvSpPr>
        <p:spPr>
          <a:xfrm>
            <a:off x="1143000" y="4681728"/>
            <a:ext cx="3108961" cy="29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Evidence-Based Confidence</a:t>
            </a:r>
          </a:p>
        </p:txBody>
      </p:sp>
      <p:sp>
        <p:nvSpPr>
          <p:cNvPr id="562" name="TextBox 19"/>
          <p:cNvSpPr txBox="1"/>
          <p:nvPr/>
        </p:nvSpPr>
        <p:spPr>
          <a:xfrm>
            <a:off x="1143000" y="4992623"/>
            <a:ext cx="950976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Every finding has a confidence score, critic validation, and a full reasoning chain — no black boxes.</a:t>
            </a:r>
          </a:p>
        </p:txBody>
      </p:sp>
      <p:sp>
        <p:nvSpPr>
          <p:cNvPr id="563" name="Rectangle 20"/>
          <p:cNvSpPr/>
          <p:nvPr/>
        </p:nvSpPr>
        <p:spPr>
          <a:xfrm>
            <a:off x="731519" y="5504688"/>
            <a:ext cx="10515601" cy="749809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4" name="Rectangle 21"/>
          <p:cNvSpPr/>
          <p:nvPr/>
        </p:nvSpPr>
        <p:spPr>
          <a:xfrm>
            <a:off x="731519" y="5504688"/>
            <a:ext cx="54865" cy="749809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5" name="TextBox 22"/>
          <p:cNvSpPr txBox="1"/>
          <p:nvPr/>
        </p:nvSpPr>
        <p:spPr>
          <a:xfrm>
            <a:off x="1143000" y="5577840"/>
            <a:ext cx="3108961" cy="29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Governance &amp; Compliance</a:t>
            </a:r>
          </a:p>
        </p:txBody>
      </p:sp>
      <p:sp>
        <p:nvSpPr>
          <p:cNvPr id="566" name="TextBox 23"/>
          <p:cNvSpPr txBox="1"/>
          <p:nvPr/>
        </p:nvSpPr>
        <p:spPr>
          <a:xfrm>
            <a:off x="1143000" y="5888735"/>
            <a:ext cx="9509761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400"/>
              </a:lnSpc>
              <a:defRPr sz="1200">
                <a:solidFill>
                  <a:srgbClr val="B0C4C8"/>
                </a:solidFill>
              </a:defRPr>
            </a:lvl1pPr>
          </a:lstStyle>
          <a:p>
            <a:pPr/>
            <a:r>
              <a:t>Attestation gates, evidence pinning, confidence ledger, human-in-the-loop checkpoints at every phase.</a:t>
            </a:r>
          </a:p>
        </p:txBody>
      </p:sp>
      <p:sp>
        <p:nvSpPr>
          <p:cNvPr id="567" name="Rectangle 24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8" name="TextBox 25"/>
          <p:cNvSpPr txBox="1"/>
          <p:nvPr/>
        </p:nvSpPr>
        <p:spPr>
          <a:xfrm>
            <a:off x="777239" y="6492240"/>
            <a:ext cx="4480561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sz="900">
                <a:solidFill>
                  <a:srgbClr val="3A5058"/>
                </a:solidFill>
              </a:defRPr>
            </a:lvl1pPr>
          </a:lstStyle>
          <a:p>
            <a:pPr/>
            <a:r>
              <a:t>Debug Duck  |  Autonomous SRE Platform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Rectangle 1"/>
          <p:cNvSpPr/>
          <p:nvPr/>
        </p:nvSpPr>
        <p:spPr>
          <a:xfrm>
            <a:off x="731519" y="457199"/>
            <a:ext cx="54865" cy="365762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1" name="TextBox 2"/>
          <p:cNvSpPr txBox="1"/>
          <p:nvPr/>
        </p:nvSpPr>
        <p:spPr>
          <a:xfrm>
            <a:off x="978408" y="457199"/>
            <a:ext cx="35661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INTEGRATIONS</a:t>
            </a:r>
          </a:p>
        </p:txBody>
      </p:sp>
      <p:sp>
        <p:nvSpPr>
          <p:cNvPr id="572" name="TextBox 3"/>
          <p:cNvSpPr txBox="1"/>
          <p:nvPr/>
        </p:nvSpPr>
        <p:spPr>
          <a:xfrm>
            <a:off x="777239" y="1051560"/>
            <a:ext cx="996696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Integration Ecosystem</a:t>
            </a:r>
          </a:p>
        </p:txBody>
      </p:sp>
      <p:sp>
        <p:nvSpPr>
          <p:cNvPr id="573" name="Rectangle 4"/>
          <p:cNvSpPr/>
          <p:nvPr/>
        </p:nvSpPr>
        <p:spPr>
          <a:xfrm>
            <a:off x="731520" y="2011679"/>
            <a:ext cx="3383280" cy="19659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4" name="Rectangle 5"/>
          <p:cNvSpPr/>
          <p:nvPr/>
        </p:nvSpPr>
        <p:spPr>
          <a:xfrm>
            <a:off x="731520" y="2011679"/>
            <a:ext cx="3383280" cy="45721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5" name="TextBox 6"/>
          <p:cNvSpPr txBox="1"/>
          <p:nvPr/>
        </p:nvSpPr>
        <p:spPr>
          <a:xfrm>
            <a:off x="1051559" y="2194560"/>
            <a:ext cx="2743201" cy="254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OBSERVABILITY</a:t>
            </a:r>
          </a:p>
        </p:txBody>
      </p:sp>
      <p:sp>
        <p:nvSpPr>
          <p:cNvPr id="576" name="TextBox 7"/>
          <p:cNvSpPr txBox="1"/>
          <p:nvPr/>
        </p:nvSpPr>
        <p:spPr>
          <a:xfrm>
            <a:off x="1051559" y="2560320"/>
            <a:ext cx="2743201" cy="767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07B6D5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Elasticsearch / Kibana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07B6D5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Prometheus / Grafana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07B6D5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Jaeger Tracing</a:t>
            </a:r>
          </a:p>
        </p:txBody>
      </p:sp>
      <p:sp>
        <p:nvSpPr>
          <p:cNvPr id="577" name="Rectangle 8"/>
          <p:cNvSpPr/>
          <p:nvPr/>
        </p:nvSpPr>
        <p:spPr>
          <a:xfrm>
            <a:off x="4389120" y="2011679"/>
            <a:ext cx="3383281" cy="19659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8" name="Rectangle 9"/>
          <p:cNvSpPr/>
          <p:nvPr/>
        </p:nvSpPr>
        <p:spPr>
          <a:xfrm>
            <a:off x="4389120" y="2011679"/>
            <a:ext cx="3383281" cy="45721"/>
          </a:xfrm>
          <a:prstGeom prst="rect">
            <a:avLst/>
          </a:prstGeom>
          <a:solidFill>
            <a:srgbClr val="F973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9" name="TextBox 10"/>
          <p:cNvSpPr txBox="1"/>
          <p:nvPr/>
        </p:nvSpPr>
        <p:spPr>
          <a:xfrm>
            <a:off x="4709160" y="2194560"/>
            <a:ext cx="2743201" cy="254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INFRASTRUCTURE</a:t>
            </a:r>
          </a:p>
        </p:txBody>
      </p:sp>
      <p:sp>
        <p:nvSpPr>
          <p:cNvPr id="580" name="TextBox 11"/>
          <p:cNvSpPr txBox="1"/>
          <p:nvPr/>
        </p:nvSpPr>
        <p:spPr>
          <a:xfrm>
            <a:off x="4709160" y="2560320"/>
            <a:ext cx="2743201" cy="767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F97316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Kubernetes / OpenShift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F97316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Container Runtime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F97316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Cloud Provider APIs</a:t>
            </a:r>
          </a:p>
        </p:txBody>
      </p:sp>
      <p:sp>
        <p:nvSpPr>
          <p:cNvPr id="581" name="Rectangle 12"/>
          <p:cNvSpPr/>
          <p:nvPr/>
        </p:nvSpPr>
        <p:spPr>
          <a:xfrm>
            <a:off x="8046719" y="2011679"/>
            <a:ext cx="3383281" cy="19659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2" name="Rectangle 13"/>
          <p:cNvSpPr/>
          <p:nvPr/>
        </p:nvSpPr>
        <p:spPr>
          <a:xfrm>
            <a:off x="8046719" y="2011679"/>
            <a:ext cx="3383281" cy="45721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3" name="TextBox 14"/>
          <p:cNvSpPr txBox="1"/>
          <p:nvPr/>
        </p:nvSpPr>
        <p:spPr>
          <a:xfrm>
            <a:off x="8366760" y="2194560"/>
            <a:ext cx="2743201" cy="254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SOURCE CONTROL</a:t>
            </a:r>
          </a:p>
        </p:txBody>
      </p:sp>
      <p:sp>
        <p:nvSpPr>
          <p:cNvPr id="584" name="TextBox 15"/>
          <p:cNvSpPr txBox="1"/>
          <p:nvPr/>
        </p:nvSpPr>
        <p:spPr>
          <a:xfrm>
            <a:off x="8366760" y="2560320"/>
            <a:ext cx="2743201" cy="767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3B82F6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GitHub Repo Analysis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3B82F6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PR Creation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3B82F6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Code Change Correlation</a:t>
            </a:r>
          </a:p>
        </p:txBody>
      </p:sp>
      <p:sp>
        <p:nvSpPr>
          <p:cNvPr id="585" name="Rectangle 16"/>
          <p:cNvSpPr/>
          <p:nvPr/>
        </p:nvSpPr>
        <p:spPr>
          <a:xfrm>
            <a:off x="731520" y="4251959"/>
            <a:ext cx="3383280" cy="19659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6" name="Rectangle 17"/>
          <p:cNvSpPr/>
          <p:nvPr/>
        </p:nvSpPr>
        <p:spPr>
          <a:xfrm>
            <a:off x="731520" y="4251959"/>
            <a:ext cx="3383280" cy="4572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7" name="TextBox 18"/>
          <p:cNvSpPr txBox="1"/>
          <p:nvPr/>
        </p:nvSpPr>
        <p:spPr>
          <a:xfrm>
            <a:off x="1051559" y="4434840"/>
            <a:ext cx="274320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ITSM</a:t>
            </a:r>
          </a:p>
        </p:txBody>
      </p:sp>
      <p:sp>
        <p:nvSpPr>
          <p:cNvPr id="588" name="TextBox 19"/>
          <p:cNvSpPr txBox="1"/>
          <p:nvPr/>
        </p:nvSpPr>
        <p:spPr>
          <a:xfrm>
            <a:off x="1051559" y="4800600"/>
            <a:ext cx="2743201" cy="767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10B981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Jira Ticket Management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10B981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BMC Remedy / Helix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10B981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ServiceNow Integration</a:t>
            </a:r>
          </a:p>
        </p:txBody>
      </p:sp>
      <p:sp>
        <p:nvSpPr>
          <p:cNvPr id="589" name="Rectangle 20"/>
          <p:cNvSpPr/>
          <p:nvPr/>
        </p:nvSpPr>
        <p:spPr>
          <a:xfrm>
            <a:off x="4389120" y="4251959"/>
            <a:ext cx="3383281" cy="19659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Rectangle 21"/>
          <p:cNvSpPr/>
          <p:nvPr/>
        </p:nvSpPr>
        <p:spPr>
          <a:xfrm>
            <a:off x="4389120" y="4251959"/>
            <a:ext cx="3383281" cy="45721"/>
          </a:xfrm>
          <a:prstGeom prst="rect">
            <a:avLst/>
          </a:prstGeom>
          <a:solidFill>
            <a:srgbClr val="A78B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1" name="TextBox 22"/>
          <p:cNvSpPr txBox="1"/>
          <p:nvPr/>
        </p:nvSpPr>
        <p:spPr>
          <a:xfrm>
            <a:off x="4709160" y="4434840"/>
            <a:ext cx="274320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A78BF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KNOWLEDGE</a:t>
            </a:r>
          </a:p>
        </p:txBody>
      </p:sp>
      <p:sp>
        <p:nvSpPr>
          <p:cNvPr id="592" name="TextBox 23"/>
          <p:cNvSpPr txBox="1"/>
          <p:nvPr/>
        </p:nvSpPr>
        <p:spPr>
          <a:xfrm>
            <a:off x="4709160" y="4800600"/>
            <a:ext cx="2743201" cy="767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A78BFA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Confluence Publishing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A78BFA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Postmortem Archive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A78BFA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Runbook Reference</a:t>
            </a:r>
          </a:p>
        </p:txBody>
      </p:sp>
      <p:sp>
        <p:nvSpPr>
          <p:cNvPr id="593" name="Rectangle 24"/>
          <p:cNvSpPr/>
          <p:nvPr/>
        </p:nvSpPr>
        <p:spPr>
          <a:xfrm>
            <a:off x="8046719" y="4251959"/>
            <a:ext cx="3383281" cy="19659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4" name="Rectangle 25"/>
          <p:cNvSpPr/>
          <p:nvPr/>
        </p:nvSpPr>
        <p:spPr>
          <a:xfrm>
            <a:off x="8046719" y="4251959"/>
            <a:ext cx="3383281" cy="45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5" name="TextBox 26"/>
          <p:cNvSpPr txBox="1"/>
          <p:nvPr/>
        </p:nvSpPr>
        <p:spPr>
          <a:xfrm>
            <a:off x="8366760" y="4434840"/>
            <a:ext cx="274320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AI ENGINE</a:t>
            </a:r>
          </a:p>
        </p:txBody>
      </p:sp>
      <p:sp>
        <p:nvSpPr>
          <p:cNvPr id="596" name="TextBox 27"/>
          <p:cNvSpPr txBox="1"/>
          <p:nvPr/>
        </p:nvSpPr>
        <p:spPr>
          <a:xfrm>
            <a:off x="8366760" y="4800600"/>
            <a:ext cx="2743201" cy="767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Anthropic Claude API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Multi-Agent Reasoning</a:t>
            </a:r>
            <a:endParaRPr b="0" sz="1100">
              <a:solidFill>
                <a:srgbClr val="B0C4C8"/>
              </a:solidFill>
            </a:endParaRPr>
          </a:p>
          <a:p>
            <a:pPr>
              <a:lnSpc>
                <a:spcPts val="1500"/>
              </a:lnSpc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›  </a:t>
            </a:r>
            <a:r>
              <a:rPr b="0" sz="1100">
                <a:solidFill>
                  <a:srgbClr val="B0C4C8"/>
                </a:solidFill>
              </a:rPr>
              <a:t>Confidence Scoring</a:t>
            </a:r>
          </a:p>
        </p:txBody>
      </p:sp>
      <p:sp>
        <p:nvSpPr>
          <p:cNvPr id="597" name="Rectangle 28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8" name="TextBox 29"/>
          <p:cNvSpPr txBox="1"/>
          <p:nvPr/>
        </p:nvSpPr>
        <p:spPr>
          <a:xfrm>
            <a:off x="777239" y="6492240"/>
            <a:ext cx="4480561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sz="900">
                <a:solidFill>
                  <a:srgbClr val="3A5058"/>
                </a:solidFill>
              </a:defRPr>
            </a:lvl1pPr>
          </a:lstStyle>
          <a:p>
            <a:pPr/>
            <a:r>
              <a:t>Debug Duck  |  Autonomous SRE Platform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Rectangle 1"/>
          <p:cNvSpPr/>
          <p:nvPr/>
        </p:nvSpPr>
        <p:spPr>
          <a:xfrm>
            <a:off x="731519" y="457199"/>
            <a:ext cx="54865" cy="365762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1" name="TextBox 2"/>
          <p:cNvSpPr txBox="1"/>
          <p:nvPr/>
        </p:nvSpPr>
        <p:spPr>
          <a:xfrm>
            <a:off x="978408" y="457199"/>
            <a:ext cx="35661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PROJECTED RESULTS</a:t>
            </a:r>
          </a:p>
        </p:txBody>
      </p:sp>
      <p:sp>
        <p:nvSpPr>
          <p:cNvPr id="602" name="TextBox 3"/>
          <p:cNvSpPr txBox="1"/>
          <p:nvPr/>
        </p:nvSpPr>
        <p:spPr>
          <a:xfrm>
            <a:off x="777239" y="1051560"/>
            <a:ext cx="996696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Measurable Impact</a:t>
            </a:r>
          </a:p>
        </p:txBody>
      </p:sp>
      <p:sp>
        <p:nvSpPr>
          <p:cNvPr id="603" name="TextBox 4"/>
          <p:cNvSpPr txBox="1"/>
          <p:nvPr/>
        </p:nvSpPr>
        <p:spPr>
          <a:xfrm>
            <a:off x="777239" y="1737360"/>
            <a:ext cx="9052561" cy="298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sz="1400">
                <a:solidFill>
                  <a:srgbClr val="B0C4C8"/>
                </a:solidFill>
              </a:defRPr>
            </a:lvl1pPr>
          </a:lstStyle>
          <a:p>
            <a:pPr/>
            <a:r>
              <a:t>Projected improvements based on platform capabilities and internal benchmarks.</a:t>
            </a:r>
          </a:p>
        </p:txBody>
      </p:sp>
      <p:sp>
        <p:nvSpPr>
          <p:cNvPr id="604" name="Rectangle 5"/>
          <p:cNvSpPr/>
          <p:nvPr/>
        </p:nvSpPr>
        <p:spPr>
          <a:xfrm>
            <a:off x="731520" y="2377439"/>
            <a:ext cx="3383280" cy="201168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5" name="Rectangle 6"/>
          <p:cNvSpPr/>
          <p:nvPr/>
        </p:nvSpPr>
        <p:spPr>
          <a:xfrm>
            <a:off x="731520" y="2377439"/>
            <a:ext cx="3383280" cy="45721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6" name="TextBox 7"/>
          <p:cNvSpPr txBox="1"/>
          <p:nvPr/>
        </p:nvSpPr>
        <p:spPr>
          <a:xfrm>
            <a:off x="1051559" y="2606039"/>
            <a:ext cx="2743201" cy="868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6200"/>
              </a:lnSpc>
              <a:defRPr b="1" sz="52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95%</a:t>
            </a:r>
          </a:p>
        </p:txBody>
      </p:sp>
      <p:sp>
        <p:nvSpPr>
          <p:cNvPr id="607" name="TextBox 8"/>
          <p:cNvSpPr txBox="1"/>
          <p:nvPr/>
        </p:nvSpPr>
        <p:spPr>
          <a:xfrm>
            <a:off x="1051559" y="3337559"/>
            <a:ext cx="2743201" cy="293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MTTR Reduction</a:t>
            </a:r>
          </a:p>
        </p:txBody>
      </p:sp>
      <p:sp>
        <p:nvSpPr>
          <p:cNvPr id="608" name="TextBox 9"/>
          <p:cNvSpPr txBox="1"/>
          <p:nvPr/>
        </p:nvSpPr>
        <p:spPr>
          <a:xfrm>
            <a:off x="1051559" y="3703320"/>
            <a:ext cx="2743201" cy="42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300"/>
              </a:lnSpc>
              <a:defRPr sz="1100">
                <a:solidFill>
                  <a:srgbClr val="B0C4C8"/>
                </a:solidFill>
              </a:defRPr>
            </a:pPr>
            <a:r>
              <a:t>From 4.2 hours avg</a:t>
            </a:r>
            <a:br/>
            <a:r>
              <a:t>down to ~12 minutes</a:t>
            </a:r>
          </a:p>
        </p:txBody>
      </p:sp>
      <p:sp>
        <p:nvSpPr>
          <p:cNvPr id="609" name="Rectangle 10"/>
          <p:cNvSpPr/>
          <p:nvPr/>
        </p:nvSpPr>
        <p:spPr>
          <a:xfrm>
            <a:off x="4389120" y="2377439"/>
            <a:ext cx="3383281" cy="201168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Rectangle 11"/>
          <p:cNvSpPr/>
          <p:nvPr/>
        </p:nvSpPr>
        <p:spPr>
          <a:xfrm>
            <a:off x="4389120" y="2377439"/>
            <a:ext cx="3383281" cy="4572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1" name="TextBox 12"/>
          <p:cNvSpPr txBox="1"/>
          <p:nvPr/>
        </p:nvSpPr>
        <p:spPr>
          <a:xfrm>
            <a:off x="4709160" y="2606039"/>
            <a:ext cx="2743201" cy="868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6200"/>
              </a:lnSpc>
              <a:defRPr b="1" sz="52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80%</a:t>
            </a:r>
          </a:p>
        </p:txBody>
      </p:sp>
      <p:sp>
        <p:nvSpPr>
          <p:cNvPr id="612" name="TextBox 13"/>
          <p:cNvSpPr txBox="1"/>
          <p:nvPr/>
        </p:nvSpPr>
        <p:spPr>
          <a:xfrm>
            <a:off x="4709160" y="3337559"/>
            <a:ext cx="2743201" cy="293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Fewer Escalations</a:t>
            </a:r>
          </a:p>
        </p:txBody>
      </p:sp>
      <p:sp>
        <p:nvSpPr>
          <p:cNvPr id="613" name="TextBox 14"/>
          <p:cNvSpPr txBox="1"/>
          <p:nvPr/>
        </p:nvSpPr>
        <p:spPr>
          <a:xfrm>
            <a:off x="4709160" y="3703320"/>
            <a:ext cx="2743201" cy="42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300"/>
              </a:lnSpc>
              <a:defRPr sz="1100">
                <a:solidFill>
                  <a:srgbClr val="B0C4C8"/>
                </a:solidFill>
              </a:defRPr>
            </a:pPr>
            <a:r>
              <a:t>Autonomous triage eliminates</a:t>
            </a:r>
            <a:br/>
            <a:r>
              <a:t>L1/L2 handoffs</a:t>
            </a:r>
          </a:p>
        </p:txBody>
      </p:sp>
      <p:sp>
        <p:nvSpPr>
          <p:cNvPr id="614" name="Rectangle 15"/>
          <p:cNvSpPr/>
          <p:nvPr/>
        </p:nvSpPr>
        <p:spPr>
          <a:xfrm>
            <a:off x="8046719" y="2377439"/>
            <a:ext cx="3383281" cy="2011680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Rectangle 16"/>
          <p:cNvSpPr/>
          <p:nvPr/>
        </p:nvSpPr>
        <p:spPr>
          <a:xfrm>
            <a:off x="8046719" y="2377439"/>
            <a:ext cx="3383281" cy="45721"/>
          </a:xfrm>
          <a:prstGeom prst="rect">
            <a:avLst/>
          </a:prstGeom>
          <a:solidFill>
            <a:srgbClr val="F973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6" name="TextBox 17"/>
          <p:cNvSpPr txBox="1"/>
          <p:nvPr/>
        </p:nvSpPr>
        <p:spPr>
          <a:xfrm>
            <a:off x="8366760" y="2606039"/>
            <a:ext cx="2743201" cy="868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6200"/>
              </a:lnSpc>
              <a:defRPr b="1" sz="5200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10x</a:t>
            </a:r>
          </a:p>
        </p:txBody>
      </p:sp>
      <p:sp>
        <p:nvSpPr>
          <p:cNvPr id="617" name="TextBox 18"/>
          <p:cNvSpPr txBox="1"/>
          <p:nvPr/>
        </p:nvSpPr>
        <p:spPr>
          <a:xfrm>
            <a:off x="8366760" y="3337559"/>
            <a:ext cx="2743201" cy="293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Faster Postmortems</a:t>
            </a:r>
          </a:p>
        </p:txBody>
      </p:sp>
      <p:sp>
        <p:nvSpPr>
          <p:cNvPr id="618" name="TextBox 19"/>
          <p:cNvSpPr txBox="1"/>
          <p:nvPr/>
        </p:nvSpPr>
        <p:spPr>
          <a:xfrm>
            <a:off x="8366760" y="3703320"/>
            <a:ext cx="2743201" cy="42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300"/>
              </a:lnSpc>
              <a:defRPr sz="1100">
                <a:solidFill>
                  <a:srgbClr val="B0C4C8"/>
                </a:solidFill>
              </a:defRPr>
            </a:pPr>
            <a:r>
              <a:t>AI-generated dossier in minutes</a:t>
            </a:r>
            <a:br/>
            <a:r>
              <a:t>vs weeks of manual writing</a:t>
            </a:r>
          </a:p>
        </p:txBody>
      </p:sp>
      <p:sp>
        <p:nvSpPr>
          <p:cNvPr id="619" name="Rectangle 20"/>
          <p:cNvSpPr/>
          <p:nvPr/>
        </p:nvSpPr>
        <p:spPr>
          <a:xfrm>
            <a:off x="731519" y="4709159"/>
            <a:ext cx="2514601" cy="12801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0" name="Rectangle 21"/>
          <p:cNvSpPr/>
          <p:nvPr/>
        </p:nvSpPr>
        <p:spPr>
          <a:xfrm>
            <a:off x="731519" y="4709159"/>
            <a:ext cx="2514601" cy="36577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1" name="TextBox 22"/>
          <p:cNvSpPr txBox="1"/>
          <p:nvPr/>
        </p:nvSpPr>
        <p:spPr>
          <a:xfrm>
            <a:off x="960120" y="4892040"/>
            <a:ext cx="2057400" cy="505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3300"/>
              </a:lnSpc>
              <a:defRPr b="1" sz="28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99.5%</a:t>
            </a:r>
          </a:p>
        </p:txBody>
      </p:sp>
      <p:sp>
        <p:nvSpPr>
          <p:cNvPr id="622" name="TextBox 23"/>
          <p:cNvSpPr txBox="1"/>
          <p:nvPr/>
        </p:nvSpPr>
        <p:spPr>
          <a:xfrm>
            <a:off x="960120" y="5349240"/>
            <a:ext cx="2057400" cy="397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200"/>
              </a:lnSpc>
              <a:defRPr sz="1000">
                <a:solidFill>
                  <a:srgbClr val="B0C4C8"/>
                </a:solidFill>
              </a:defRPr>
            </a:pPr>
            <a:r>
              <a:t>Diagnostic</a:t>
            </a:r>
            <a:br/>
            <a:r>
              <a:t>Accuracy</a:t>
            </a:r>
          </a:p>
        </p:txBody>
      </p:sp>
      <p:sp>
        <p:nvSpPr>
          <p:cNvPr id="623" name="Rectangle 24"/>
          <p:cNvSpPr/>
          <p:nvPr/>
        </p:nvSpPr>
        <p:spPr>
          <a:xfrm>
            <a:off x="3520438" y="4709159"/>
            <a:ext cx="2514601" cy="12801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Rectangle 25"/>
          <p:cNvSpPr/>
          <p:nvPr/>
        </p:nvSpPr>
        <p:spPr>
          <a:xfrm>
            <a:off x="3520438" y="4709159"/>
            <a:ext cx="2514601" cy="36577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5" name="TextBox 26"/>
          <p:cNvSpPr txBox="1"/>
          <p:nvPr/>
        </p:nvSpPr>
        <p:spPr>
          <a:xfrm>
            <a:off x="3749040" y="4892040"/>
            <a:ext cx="2057401" cy="505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3300"/>
              </a:lnSpc>
              <a:defRPr b="1" sz="28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&lt;5 min</a:t>
            </a:r>
          </a:p>
        </p:txBody>
      </p:sp>
      <p:sp>
        <p:nvSpPr>
          <p:cNvPr id="626" name="TextBox 27"/>
          <p:cNvSpPr txBox="1"/>
          <p:nvPr/>
        </p:nvSpPr>
        <p:spPr>
          <a:xfrm>
            <a:off x="3749040" y="5349240"/>
            <a:ext cx="2057401" cy="397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200"/>
              </a:lnSpc>
              <a:defRPr sz="1000">
                <a:solidFill>
                  <a:srgbClr val="B0C4C8"/>
                </a:solidFill>
              </a:defRPr>
            </a:pPr>
            <a:r>
              <a:t>RTO</a:t>
            </a:r>
            <a:br/>
            <a:r>
              <a:t>(Recovery Time)</a:t>
            </a:r>
          </a:p>
        </p:txBody>
      </p:sp>
      <p:sp>
        <p:nvSpPr>
          <p:cNvPr id="627" name="Rectangle 28"/>
          <p:cNvSpPr/>
          <p:nvPr/>
        </p:nvSpPr>
        <p:spPr>
          <a:xfrm>
            <a:off x="6309359" y="4709159"/>
            <a:ext cx="2514601" cy="12801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8" name="Rectangle 29"/>
          <p:cNvSpPr/>
          <p:nvPr/>
        </p:nvSpPr>
        <p:spPr>
          <a:xfrm>
            <a:off x="6309359" y="4709159"/>
            <a:ext cx="2514601" cy="36577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9" name="TextBox 30"/>
          <p:cNvSpPr txBox="1"/>
          <p:nvPr/>
        </p:nvSpPr>
        <p:spPr>
          <a:xfrm>
            <a:off x="6537960" y="4892040"/>
            <a:ext cx="2057401" cy="505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3300"/>
              </a:lnSpc>
              <a:defRPr b="1" sz="2800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~0</a:t>
            </a:r>
          </a:p>
        </p:txBody>
      </p:sp>
      <p:sp>
        <p:nvSpPr>
          <p:cNvPr id="630" name="TextBox 31"/>
          <p:cNvSpPr txBox="1"/>
          <p:nvPr/>
        </p:nvSpPr>
        <p:spPr>
          <a:xfrm>
            <a:off x="6537960" y="5349240"/>
            <a:ext cx="2057401" cy="397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200"/>
              </a:lnSpc>
              <a:defRPr sz="1000">
                <a:solidFill>
                  <a:srgbClr val="B0C4C8"/>
                </a:solidFill>
              </a:defRPr>
            </a:pPr>
            <a:r>
              <a:t>RPO</a:t>
            </a:r>
            <a:br/>
            <a:r>
              <a:t>(Data Loss)</a:t>
            </a:r>
          </a:p>
        </p:txBody>
      </p:sp>
      <p:sp>
        <p:nvSpPr>
          <p:cNvPr id="631" name="Rectangle 32"/>
          <p:cNvSpPr/>
          <p:nvPr/>
        </p:nvSpPr>
        <p:spPr>
          <a:xfrm>
            <a:off x="9098280" y="4709159"/>
            <a:ext cx="2514601" cy="128016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2" name="Rectangle 33"/>
          <p:cNvSpPr/>
          <p:nvPr/>
        </p:nvSpPr>
        <p:spPr>
          <a:xfrm>
            <a:off x="9098280" y="4709159"/>
            <a:ext cx="2514601" cy="36577"/>
          </a:xfrm>
          <a:prstGeom prst="rect">
            <a:avLst/>
          </a:prstGeom>
          <a:solidFill>
            <a:srgbClr val="FBB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3" name="TextBox 34"/>
          <p:cNvSpPr txBox="1"/>
          <p:nvPr/>
        </p:nvSpPr>
        <p:spPr>
          <a:xfrm>
            <a:off x="9326879" y="4892040"/>
            <a:ext cx="2057401" cy="505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3300"/>
              </a:lnSpc>
              <a:defRPr b="1" sz="2800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60%</a:t>
            </a:r>
          </a:p>
        </p:txBody>
      </p:sp>
      <p:sp>
        <p:nvSpPr>
          <p:cNvPr id="634" name="TextBox 35"/>
          <p:cNvSpPr txBox="1"/>
          <p:nvPr/>
        </p:nvSpPr>
        <p:spPr>
          <a:xfrm>
            <a:off x="9326879" y="5349240"/>
            <a:ext cx="2057401" cy="397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200"/>
              </a:lnSpc>
              <a:defRPr sz="1000">
                <a:solidFill>
                  <a:srgbClr val="B0C4C8"/>
                </a:solidFill>
              </a:defRPr>
            </a:pPr>
            <a:r>
              <a:t>On-Call Cost</a:t>
            </a:r>
            <a:br/>
            <a:r>
              <a:t>Reduction</a:t>
            </a:r>
          </a:p>
        </p:txBody>
      </p:sp>
      <p:sp>
        <p:nvSpPr>
          <p:cNvPr id="635" name="Rectangle 36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6" name="TextBox 37"/>
          <p:cNvSpPr txBox="1"/>
          <p:nvPr/>
        </p:nvSpPr>
        <p:spPr>
          <a:xfrm>
            <a:off x="777239" y="6492240"/>
            <a:ext cx="4480561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sz="900">
                <a:solidFill>
                  <a:srgbClr val="3A5058"/>
                </a:solidFill>
              </a:defRPr>
            </a:lvl1pPr>
          </a:lstStyle>
          <a:p>
            <a:pPr/>
            <a:r>
              <a:t>Debug Duck  |  Autonomous SRE Platform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Rectangle 1"/>
          <p:cNvSpPr/>
          <p:nvPr/>
        </p:nvSpPr>
        <p:spPr>
          <a:xfrm>
            <a:off x="731519" y="457199"/>
            <a:ext cx="54865" cy="365762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9" name="TextBox 2"/>
          <p:cNvSpPr txBox="1"/>
          <p:nvPr/>
        </p:nvSpPr>
        <p:spPr>
          <a:xfrm>
            <a:off x="978408" y="457199"/>
            <a:ext cx="35661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OPERATIONAL GAINS</a:t>
            </a:r>
          </a:p>
        </p:txBody>
      </p:sp>
      <p:sp>
        <p:nvSpPr>
          <p:cNvPr id="640" name="TextBox 3"/>
          <p:cNvSpPr txBox="1"/>
          <p:nvPr/>
        </p:nvSpPr>
        <p:spPr>
          <a:xfrm>
            <a:off x="777239" y="1051560"/>
            <a:ext cx="996696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Operational Improvements</a:t>
            </a:r>
          </a:p>
        </p:txBody>
      </p:sp>
      <p:sp>
        <p:nvSpPr>
          <p:cNvPr id="641" name="Rectangle 4"/>
          <p:cNvSpPr/>
          <p:nvPr/>
        </p:nvSpPr>
        <p:spPr>
          <a:xfrm>
            <a:off x="731519" y="2011679"/>
            <a:ext cx="5303522" cy="420624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2" name="Rectangle 5"/>
          <p:cNvSpPr/>
          <p:nvPr/>
        </p:nvSpPr>
        <p:spPr>
          <a:xfrm>
            <a:off x="731519" y="2011679"/>
            <a:ext cx="5303522" cy="45721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3" name="TextBox 6"/>
          <p:cNvSpPr txBox="1"/>
          <p:nvPr/>
        </p:nvSpPr>
        <p:spPr>
          <a:xfrm>
            <a:off x="1097279" y="2240279"/>
            <a:ext cx="4572002" cy="28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b="1" sz="13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SRE &amp; OPERATIONS</a:t>
            </a:r>
          </a:p>
        </p:txBody>
      </p:sp>
      <p:sp>
        <p:nvSpPr>
          <p:cNvPr id="644" name="Rectangle 7"/>
          <p:cNvSpPr/>
          <p:nvPr/>
        </p:nvSpPr>
        <p:spPr>
          <a:xfrm>
            <a:off x="914400" y="2697479"/>
            <a:ext cx="54864" cy="411481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5" name="TextBox 8"/>
          <p:cNvSpPr txBox="1"/>
          <p:nvPr/>
        </p:nvSpPr>
        <p:spPr>
          <a:xfrm>
            <a:off x="1188719" y="2697479"/>
            <a:ext cx="1371602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MTTR</a:t>
            </a:r>
          </a:p>
        </p:txBody>
      </p:sp>
      <p:sp>
        <p:nvSpPr>
          <p:cNvPr id="646" name="TextBox 9"/>
          <p:cNvSpPr txBox="1"/>
          <p:nvPr/>
        </p:nvSpPr>
        <p:spPr>
          <a:xfrm>
            <a:off x="2697479" y="2697479"/>
            <a:ext cx="1554482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4.2 hrs → 12 min</a:t>
            </a:r>
          </a:p>
        </p:txBody>
      </p:sp>
      <p:sp>
        <p:nvSpPr>
          <p:cNvPr id="647" name="TextBox 10"/>
          <p:cNvSpPr txBox="1"/>
          <p:nvPr/>
        </p:nvSpPr>
        <p:spPr>
          <a:xfrm>
            <a:off x="4434840" y="2706623"/>
            <a:ext cx="137160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95% reduction</a:t>
            </a:r>
          </a:p>
        </p:txBody>
      </p:sp>
      <p:sp>
        <p:nvSpPr>
          <p:cNvPr id="648" name="Rectangle 11"/>
          <p:cNvSpPr/>
          <p:nvPr/>
        </p:nvSpPr>
        <p:spPr>
          <a:xfrm>
            <a:off x="914400" y="3246120"/>
            <a:ext cx="54864" cy="41148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9" name="TextBox 12"/>
          <p:cNvSpPr txBox="1"/>
          <p:nvPr/>
        </p:nvSpPr>
        <p:spPr>
          <a:xfrm>
            <a:off x="1188719" y="3246120"/>
            <a:ext cx="1371602" cy="254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MTTD</a:t>
            </a:r>
          </a:p>
        </p:txBody>
      </p:sp>
      <p:sp>
        <p:nvSpPr>
          <p:cNvPr id="650" name="TextBox 13"/>
          <p:cNvSpPr txBox="1"/>
          <p:nvPr/>
        </p:nvSpPr>
        <p:spPr>
          <a:xfrm>
            <a:off x="2697479" y="3246120"/>
            <a:ext cx="1554482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45 min → 2 min</a:t>
            </a:r>
          </a:p>
        </p:txBody>
      </p:sp>
      <p:sp>
        <p:nvSpPr>
          <p:cNvPr id="651" name="TextBox 14"/>
          <p:cNvSpPr txBox="1"/>
          <p:nvPr/>
        </p:nvSpPr>
        <p:spPr>
          <a:xfrm>
            <a:off x="4434840" y="3255264"/>
            <a:ext cx="137160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96% reduction</a:t>
            </a:r>
          </a:p>
        </p:txBody>
      </p:sp>
      <p:sp>
        <p:nvSpPr>
          <p:cNvPr id="652" name="Rectangle 15"/>
          <p:cNvSpPr/>
          <p:nvPr/>
        </p:nvSpPr>
        <p:spPr>
          <a:xfrm>
            <a:off x="914400" y="3794759"/>
            <a:ext cx="54864" cy="411481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3" name="TextBox 16"/>
          <p:cNvSpPr txBox="1"/>
          <p:nvPr/>
        </p:nvSpPr>
        <p:spPr>
          <a:xfrm>
            <a:off x="1188719" y="3794759"/>
            <a:ext cx="1371602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MTTA</a:t>
            </a:r>
          </a:p>
        </p:txBody>
      </p:sp>
      <p:sp>
        <p:nvSpPr>
          <p:cNvPr id="654" name="TextBox 17"/>
          <p:cNvSpPr txBox="1"/>
          <p:nvPr/>
        </p:nvSpPr>
        <p:spPr>
          <a:xfrm>
            <a:off x="2697479" y="3794759"/>
            <a:ext cx="1554482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15 min → instant</a:t>
            </a:r>
          </a:p>
        </p:txBody>
      </p:sp>
      <p:sp>
        <p:nvSpPr>
          <p:cNvPr id="655" name="TextBox 18"/>
          <p:cNvSpPr txBox="1"/>
          <p:nvPr/>
        </p:nvSpPr>
        <p:spPr>
          <a:xfrm>
            <a:off x="4434840" y="3803903"/>
            <a:ext cx="137160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~100% reduction</a:t>
            </a:r>
          </a:p>
        </p:txBody>
      </p:sp>
      <p:sp>
        <p:nvSpPr>
          <p:cNvPr id="656" name="Rectangle 19"/>
          <p:cNvSpPr/>
          <p:nvPr/>
        </p:nvSpPr>
        <p:spPr>
          <a:xfrm>
            <a:off x="914400" y="4343399"/>
            <a:ext cx="54864" cy="411482"/>
          </a:xfrm>
          <a:prstGeom prst="rect">
            <a:avLst/>
          </a:prstGeom>
          <a:solidFill>
            <a:srgbClr val="F973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7" name="TextBox 20"/>
          <p:cNvSpPr txBox="1"/>
          <p:nvPr/>
        </p:nvSpPr>
        <p:spPr>
          <a:xfrm>
            <a:off x="1188719" y="4343400"/>
            <a:ext cx="1371602" cy="254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Incident Volume</a:t>
            </a:r>
          </a:p>
        </p:txBody>
      </p:sp>
      <p:sp>
        <p:nvSpPr>
          <p:cNvPr id="658" name="TextBox 21"/>
          <p:cNvSpPr txBox="1"/>
          <p:nvPr/>
        </p:nvSpPr>
        <p:spPr>
          <a:xfrm>
            <a:off x="2697479" y="4343400"/>
            <a:ext cx="1554482" cy="258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120/mo → 30/mo</a:t>
            </a:r>
          </a:p>
        </p:txBody>
      </p:sp>
      <p:sp>
        <p:nvSpPr>
          <p:cNvPr id="659" name="TextBox 22"/>
          <p:cNvSpPr txBox="1"/>
          <p:nvPr/>
        </p:nvSpPr>
        <p:spPr>
          <a:xfrm>
            <a:off x="4434840" y="4352544"/>
            <a:ext cx="137160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75% auto-resolved</a:t>
            </a:r>
          </a:p>
        </p:txBody>
      </p:sp>
      <p:sp>
        <p:nvSpPr>
          <p:cNvPr id="660" name="Rectangle 23"/>
          <p:cNvSpPr/>
          <p:nvPr/>
        </p:nvSpPr>
        <p:spPr>
          <a:xfrm>
            <a:off x="914400" y="4892040"/>
            <a:ext cx="54864" cy="411481"/>
          </a:xfrm>
          <a:prstGeom prst="rect">
            <a:avLst/>
          </a:prstGeom>
          <a:solidFill>
            <a:srgbClr val="A78B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1" name="TextBox 24"/>
          <p:cNvSpPr txBox="1"/>
          <p:nvPr/>
        </p:nvSpPr>
        <p:spPr>
          <a:xfrm>
            <a:off x="1188719" y="4892040"/>
            <a:ext cx="1371602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A78BF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Toil Hours</a:t>
            </a:r>
          </a:p>
        </p:txBody>
      </p:sp>
      <p:sp>
        <p:nvSpPr>
          <p:cNvPr id="662" name="TextBox 25"/>
          <p:cNvSpPr txBox="1"/>
          <p:nvPr/>
        </p:nvSpPr>
        <p:spPr>
          <a:xfrm>
            <a:off x="2697479" y="4892040"/>
            <a:ext cx="1554482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160 hrs/mo → 32 hrs/mo</a:t>
            </a:r>
          </a:p>
        </p:txBody>
      </p:sp>
      <p:sp>
        <p:nvSpPr>
          <p:cNvPr id="663" name="TextBox 26"/>
          <p:cNvSpPr txBox="1"/>
          <p:nvPr/>
        </p:nvSpPr>
        <p:spPr>
          <a:xfrm>
            <a:off x="4434840" y="4901183"/>
            <a:ext cx="137160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80% reduction</a:t>
            </a:r>
          </a:p>
        </p:txBody>
      </p:sp>
      <p:sp>
        <p:nvSpPr>
          <p:cNvPr id="664" name="Rectangle 27"/>
          <p:cNvSpPr/>
          <p:nvPr/>
        </p:nvSpPr>
        <p:spPr>
          <a:xfrm>
            <a:off x="914400" y="5440679"/>
            <a:ext cx="54864" cy="411481"/>
          </a:xfrm>
          <a:prstGeom prst="rect">
            <a:avLst/>
          </a:prstGeom>
          <a:solidFill>
            <a:srgbClr val="FBB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5" name="TextBox 28"/>
          <p:cNvSpPr txBox="1"/>
          <p:nvPr/>
        </p:nvSpPr>
        <p:spPr>
          <a:xfrm>
            <a:off x="1188719" y="5440679"/>
            <a:ext cx="1371602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SLA Compliance</a:t>
            </a:r>
          </a:p>
        </p:txBody>
      </p:sp>
      <p:sp>
        <p:nvSpPr>
          <p:cNvPr id="666" name="TextBox 29"/>
          <p:cNvSpPr txBox="1"/>
          <p:nvPr/>
        </p:nvSpPr>
        <p:spPr>
          <a:xfrm>
            <a:off x="2697479" y="5440679"/>
            <a:ext cx="1554482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94% → 99.8%</a:t>
            </a:r>
          </a:p>
        </p:txBody>
      </p:sp>
      <p:sp>
        <p:nvSpPr>
          <p:cNvPr id="667" name="TextBox 30"/>
          <p:cNvSpPr txBox="1"/>
          <p:nvPr/>
        </p:nvSpPr>
        <p:spPr>
          <a:xfrm>
            <a:off x="4434840" y="5449823"/>
            <a:ext cx="137160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+5.8 percentage points</a:t>
            </a:r>
          </a:p>
        </p:txBody>
      </p:sp>
      <p:sp>
        <p:nvSpPr>
          <p:cNvPr id="668" name="Rectangle 31"/>
          <p:cNvSpPr/>
          <p:nvPr/>
        </p:nvSpPr>
        <p:spPr>
          <a:xfrm>
            <a:off x="6309359" y="2011679"/>
            <a:ext cx="5120641" cy="420624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9" name="Rectangle 32"/>
          <p:cNvSpPr/>
          <p:nvPr/>
        </p:nvSpPr>
        <p:spPr>
          <a:xfrm>
            <a:off x="6309359" y="2011679"/>
            <a:ext cx="5120641" cy="4572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0" name="TextBox 33"/>
          <p:cNvSpPr txBox="1"/>
          <p:nvPr/>
        </p:nvSpPr>
        <p:spPr>
          <a:xfrm>
            <a:off x="6675119" y="2240279"/>
            <a:ext cx="4480562" cy="28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b="1" sz="13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BUSINESS &amp; FINANCIAL</a:t>
            </a:r>
          </a:p>
        </p:txBody>
      </p:sp>
      <p:sp>
        <p:nvSpPr>
          <p:cNvPr id="671" name="Rectangle 34"/>
          <p:cNvSpPr/>
          <p:nvPr/>
        </p:nvSpPr>
        <p:spPr>
          <a:xfrm>
            <a:off x="6492240" y="2697479"/>
            <a:ext cx="54865" cy="41148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TextBox 35"/>
          <p:cNvSpPr txBox="1"/>
          <p:nvPr/>
        </p:nvSpPr>
        <p:spPr>
          <a:xfrm>
            <a:off x="6766560" y="2697479"/>
            <a:ext cx="164592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Downtime Cost Saved</a:t>
            </a:r>
          </a:p>
        </p:txBody>
      </p:sp>
      <p:sp>
        <p:nvSpPr>
          <p:cNvPr id="673" name="TextBox 36"/>
          <p:cNvSpPr txBox="1"/>
          <p:nvPr/>
        </p:nvSpPr>
        <p:spPr>
          <a:xfrm>
            <a:off x="8549639" y="2697479"/>
            <a:ext cx="1554481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$50K → $2K per SEV-1</a:t>
            </a:r>
          </a:p>
        </p:txBody>
      </p:sp>
      <p:sp>
        <p:nvSpPr>
          <p:cNvPr id="674" name="TextBox 37"/>
          <p:cNvSpPr txBox="1"/>
          <p:nvPr/>
        </p:nvSpPr>
        <p:spPr>
          <a:xfrm>
            <a:off x="10287000" y="2706623"/>
            <a:ext cx="1005841" cy="24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96% savings</a:t>
            </a:r>
          </a:p>
        </p:txBody>
      </p:sp>
      <p:sp>
        <p:nvSpPr>
          <p:cNvPr id="675" name="Rectangle 38"/>
          <p:cNvSpPr/>
          <p:nvPr/>
        </p:nvSpPr>
        <p:spPr>
          <a:xfrm>
            <a:off x="6492240" y="3246120"/>
            <a:ext cx="54865" cy="411481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TextBox 39"/>
          <p:cNvSpPr txBox="1"/>
          <p:nvPr/>
        </p:nvSpPr>
        <p:spPr>
          <a:xfrm>
            <a:off x="6766560" y="3246120"/>
            <a:ext cx="1645921" cy="254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Engineer Productivity</a:t>
            </a:r>
          </a:p>
        </p:txBody>
      </p:sp>
      <p:sp>
        <p:nvSpPr>
          <p:cNvPr id="677" name="TextBox 40"/>
          <p:cNvSpPr txBox="1"/>
          <p:nvPr/>
        </p:nvSpPr>
        <p:spPr>
          <a:xfrm>
            <a:off x="8549639" y="3246120"/>
            <a:ext cx="1554481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+128 hrs/mo freed</a:t>
            </a:r>
          </a:p>
        </p:txBody>
      </p:sp>
      <p:sp>
        <p:nvSpPr>
          <p:cNvPr id="678" name="TextBox 41"/>
          <p:cNvSpPr txBox="1"/>
          <p:nvPr/>
        </p:nvSpPr>
        <p:spPr>
          <a:xfrm>
            <a:off x="10287000" y="3255264"/>
            <a:ext cx="1005841" cy="397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Redirected to features</a:t>
            </a:r>
          </a:p>
        </p:txBody>
      </p:sp>
      <p:sp>
        <p:nvSpPr>
          <p:cNvPr id="679" name="Rectangle 42"/>
          <p:cNvSpPr/>
          <p:nvPr/>
        </p:nvSpPr>
        <p:spPr>
          <a:xfrm>
            <a:off x="6492240" y="3794759"/>
            <a:ext cx="54865" cy="411481"/>
          </a:xfrm>
          <a:prstGeom prst="rect">
            <a:avLst/>
          </a:prstGeom>
          <a:solidFill>
            <a:srgbClr val="F973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0" name="TextBox 43"/>
          <p:cNvSpPr txBox="1"/>
          <p:nvPr/>
        </p:nvSpPr>
        <p:spPr>
          <a:xfrm>
            <a:off x="6766560" y="3794759"/>
            <a:ext cx="164592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On-Call Staffing</a:t>
            </a:r>
          </a:p>
        </p:txBody>
      </p:sp>
      <p:sp>
        <p:nvSpPr>
          <p:cNvPr id="681" name="TextBox 44"/>
          <p:cNvSpPr txBox="1"/>
          <p:nvPr/>
        </p:nvSpPr>
        <p:spPr>
          <a:xfrm>
            <a:off x="8549639" y="3794759"/>
            <a:ext cx="1554481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6 FTEs → 2 FTEs</a:t>
            </a:r>
          </a:p>
        </p:txBody>
      </p:sp>
      <p:sp>
        <p:nvSpPr>
          <p:cNvPr id="682" name="TextBox 45"/>
          <p:cNvSpPr txBox="1"/>
          <p:nvPr/>
        </p:nvSpPr>
        <p:spPr>
          <a:xfrm>
            <a:off x="10287000" y="3803903"/>
            <a:ext cx="1005841" cy="397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60% headcount savings</a:t>
            </a:r>
          </a:p>
        </p:txBody>
      </p:sp>
      <p:sp>
        <p:nvSpPr>
          <p:cNvPr id="683" name="Rectangle 46"/>
          <p:cNvSpPr/>
          <p:nvPr/>
        </p:nvSpPr>
        <p:spPr>
          <a:xfrm>
            <a:off x="6492240" y="4343399"/>
            <a:ext cx="54865" cy="411482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TextBox 47"/>
          <p:cNvSpPr txBox="1"/>
          <p:nvPr/>
        </p:nvSpPr>
        <p:spPr>
          <a:xfrm>
            <a:off x="6766560" y="4343400"/>
            <a:ext cx="1645921" cy="254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RTO (Recovery Time)</a:t>
            </a:r>
          </a:p>
        </p:txBody>
      </p:sp>
      <p:sp>
        <p:nvSpPr>
          <p:cNvPr id="685" name="TextBox 48"/>
          <p:cNvSpPr txBox="1"/>
          <p:nvPr/>
        </p:nvSpPr>
        <p:spPr>
          <a:xfrm>
            <a:off x="8549639" y="4343400"/>
            <a:ext cx="1554481" cy="258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&lt;5 minutes</a:t>
            </a:r>
          </a:p>
        </p:txBody>
      </p:sp>
      <p:sp>
        <p:nvSpPr>
          <p:cNvPr id="686" name="TextBox 49"/>
          <p:cNvSpPr txBox="1"/>
          <p:nvPr/>
        </p:nvSpPr>
        <p:spPr>
          <a:xfrm>
            <a:off x="10287000" y="4352544"/>
            <a:ext cx="1005841" cy="397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Down from 2+ hours</a:t>
            </a:r>
          </a:p>
        </p:txBody>
      </p:sp>
      <p:sp>
        <p:nvSpPr>
          <p:cNvPr id="687" name="Rectangle 50"/>
          <p:cNvSpPr/>
          <p:nvPr/>
        </p:nvSpPr>
        <p:spPr>
          <a:xfrm>
            <a:off x="6492240" y="4892040"/>
            <a:ext cx="54865" cy="411481"/>
          </a:xfrm>
          <a:prstGeom prst="rect">
            <a:avLst/>
          </a:prstGeom>
          <a:solidFill>
            <a:srgbClr val="A78BF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8" name="TextBox 51"/>
          <p:cNvSpPr txBox="1"/>
          <p:nvPr/>
        </p:nvSpPr>
        <p:spPr>
          <a:xfrm>
            <a:off x="6766560" y="4892040"/>
            <a:ext cx="164592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A78BF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RPO (Recovery Point)</a:t>
            </a:r>
          </a:p>
        </p:txBody>
      </p:sp>
      <p:sp>
        <p:nvSpPr>
          <p:cNvPr id="689" name="TextBox 52"/>
          <p:cNvSpPr txBox="1"/>
          <p:nvPr/>
        </p:nvSpPr>
        <p:spPr>
          <a:xfrm>
            <a:off x="8549639" y="4892040"/>
            <a:ext cx="1554481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Near-zero data loss</a:t>
            </a:r>
          </a:p>
        </p:txBody>
      </p:sp>
      <p:sp>
        <p:nvSpPr>
          <p:cNvPr id="690" name="TextBox 53"/>
          <p:cNvSpPr txBox="1"/>
          <p:nvPr/>
        </p:nvSpPr>
        <p:spPr>
          <a:xfrm>
            <a:off x="10287000" y="4901183"/>
            <a:ext cx="1005841" cy="397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Instant state capture</a:t>
            </a:r>
          </a:p>
        </p:txBody>
      </p:sp>
      <p:sp>
        <p:nvSpPr>
          <p:cNvPr id="691" name="Rectangle 54"/>
          <p:cNvSpPr/>
          <p:nvPr/>
        </p:nvSpPr>
        <p:spPr>
          <a:xfrm>
            <a:off x="6492240" y="5440679"/>
            <a:ext cx="54865" cy="411481"/>
          </a:xfrm>
          <a:prstGeom prst="rect">
            <a:avLst/>
          </a:prstGeom>
          <a:solidFill>
            <a:srgbClr val="FBB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2" name="TextBox 55"/>
          <p:cNvSpPr txBox="1"/>
          <p:nvPr/>
        </p:nvSpPr>
        <p:spPr>
          <a:xfrm>
            <a:off x="6766560" y="5440679"/>
            <a:ext cx="164592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Audit Compliance</a:t>
            </a:r>
          </a:p>
        </p:txBody>
      </p:sp>
      <p:sp>
        <p:nvSpPr>
          <p:cNvPr id="693" name="TextBox 56"/>
          <p:cNvSpPr txBox="1"/>
          <p:nvPr/>
        </p:nvSpPr>
        <p:spPr>
          <a:xfrm>
            <a:off x="8549639" y="5440679"/>
            <a:ext cx="1554481" cy="25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100% trail coverage</a:t>
            </a:r>
          </a:p>
        </p:txBody>
      </p:sp>
      <p:sp>
        <p:nvSpPr>
          <p:cNvPr id="694" name="TextBox 57"/>
          <p:cNvSpPr txBox="1"/>
          <p:nvPr/>
        </p:nvSpPr>
        <p:spPr>
          <a:xfrm>
            <a:off x="10287000" y="5449823"/>
            <a:ext cx="1005841" cy="397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B0C4C8"/>
                </a:solidFill>
              </a:defRPr>
            </a:lvl1pPr>
          </a:lstStyle>
          <a:p>
            <a:pPr/>
            <a:r>
              <a:t>Every action logged</a:t>
            </a:r>
          </a:p>
        </p:txBody>
      </p:sp>
      <p:sp>
        <p:nvSpPr>
          <p:cNvPr id="695" name="Rectangle 58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0C151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6" name="TextBox 59"/>
          <p:cNvSpPr txBox="1"/>
          <p:nvPr/>
        </p:nvSpPr>
        <p:spPr>
          <a:xfrm>
            <a:off x="777239" y="6492240"/>
            <a:ext cx="4480561" cy="22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000"/>
              </a:lnSpc>
              <a:defRPr sz="900">
                <a:solidFill>
                  <a:srgbClr val="3A5058"/>
                </a:solidFill>
              </a:defRPr>
            </a:lvl1pPr>
          </a:lstStyle>
          <a:p>
            <a:pPr/>
            <a:r>
              <a:t>Debug Duck  |  Autonomous SRE Platform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Rectangle 1"/>
          <p:cNvSpPr/>
          <p:nvPr/>
        </p:nvSpPr>
        <p:spPr>
          <a:xfrm>
            <a:off x="731519" y="457199"/>
            <a:ext cx="54865" cy="365762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9" name="TextBox 2"/>
          <p:cNvSpPr txBox="1"/>
          <p:nvPr/>
        </p:nvSpPr>
        <p:spPr>
          <a:xfrm>
            <a:off x="978408" y="457199"/>
            <a:ext cx="3566161" cy="25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LIVE DEMO</a:t>
            </a:r>
          </a:p>
        </p:txBody>
      </p:sp>
      <p:sp>
        <p:nvSpPr>
          <p:cNvPr id="700" name="TextBox 3"/>
          <p:cNvSpPr txBox="1"/>
          <p:nvPr/>
        </p:nvSpPr>
        <p:spPr>
          <a:xfrm>
            <a:off x="777239" y="1051560"/>
            <a:ext cx="9966961" cy="6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300"/>
              </a:lnSpc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See It In Action</a:t>
            </a:r>
          </a:p>
        </p:txBody>
      </p:sp>
      <p:sp>
        <p:nvSpPr>
          <p:cNvPr id="701" name="Oval 4"/>
          <p:cNvSpPr/>
          <p:nvPr/>
        </p:nvSpPr>
        <p:spPr>
          <a:xfrm>
            <a:off x="914399" y="1883664"/>
            <a:ext cx="329186" cy="329185"/>
          </a:xfrm>
          <a:prstGeom prst="ellipse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2" name="TextBox 5"/>
          <p:cNvSpPr txBox="1"/>
          <p:nvPr/>
        </p:nvSpPr>
        <p:spPr>
          <a:xfrm>
            <a:off x="960119" y="1901951"/>
            <a:ext cx="237746" cy="28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500"/>
              </a:lnSpc>
              <a:defRPr b="1" sz="13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03" name="TextBox 6"/>
          <p:cNvSpPr txBox="1"/>
          <p:nvPr/>
        </p:nvSpPr>
        <p:spPr>
          <a:xfrm>
            <a:off x="1508759" y="1901951"/>
            <a:ext cx="8595361" cy="285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Start investigation: payment-service, last 2 hours</a:t>
            </a:r>
          </a:p>
        </p:txBody>
      </p:sp>
      <p:sp>
        <p:nvSpPr>
          <p:cNvPr id="704" name="Rectangle 7"/>
          <p:cNvSpPr/>
          <p:nvPr/>
        </p:nvSpPr>
        <p:spPr>
          <a:xfrm>
            <a:off x="1060703" y="2212848"/>
            <a:ext cx="36577" cy="164593"/>
          </a:xfrm>
          <a:prstGeom prst="rect">
            <a:avLst/>
          </a:prstGeom>
          <a:solidFill>
            <a:srgbClr val="3A505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5" name="Oval 8"/>
          <p:cNvSpPr/>
          <p:nvPr/>
        </p:nvSpPr>
        <p:spPr>
          <a:xfrm>
            <a:off x="914399" y="2395727"/>
            <a:ext cx="329186" cy="329185"/>
          </a:xfrm>
          <a:prstGeom prst="ellipse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TextBox 9"/>
          <p:cNvSpPr txBox="1"/>
          <p:nvPr/>
        </p:nvSpPr>
        <p:spPr>
          <a:xfrm>
            <a:off x="960119" y="2414016"/>
            <a:ext cx="237746" cy="280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500"/>
              </a:lnSpc>
              <a:defRPr b="1" sz="13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07" name="TextBox 10"/>
          <p:cNvSpPr txBox="1"/>
          <p:nvPr/>
        </p:nvSpPr>
        <p:spPr>
          <a:xfrm>
            <a:off x="1508759" y="2414016"/>
            <a:ext cx="8595361" cy="285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Watch 6 agents activate: Log → Metrics → Traces → K8s → Change → Code</a:t>
            </a:r>
          </a:p>
        </p:txBody>
      </p:sp>
      <p:sp>
        <p:nvSpPr>
          <p:cNvPr id="708" name="Rectangle 11"/>
          <p:cNvSpPr/>
          <p:nvPr/>
        </p:nvSpPr>
        <p:spPr>
          <a:xfrm>
            <a:off x="1060703" y="2724911"/>
            <a:ext cx="36577" cy="164593"/>
          </a:xfrm>
          <a:prstGeom prst="rect">
            <a:avLst/>
          </a:prstGeom>
          <a:solidFill>
            <a:srgbClr val="3A505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9" name="Oval 12"/>
          <p:cNvSpPr/>
          <p:nvPr/>
        </p:nvSpPr>
        <p:spPr>
          <a:xfrm>
            <a:off x="914399" y="2907792"/>
            <a:ext cx="329186" cy="329185"/>
          </a:xfrm>
          <a:prstGeom prst="ellipse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0" name="TextBox 13"/>
          <p:cNvSpPr txBox="1"/>
          <p:nvPr/>
        </p:nvSpPr>
        <p:spPr>
          <a:xfrm>
            <a:off x="960119" y="2926079"/>
            <a:ext cx="237746" cy="28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500"/>
              </a:lnSpc>
              <a:defRPr b="1" sz="13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11" name="TextBox 14"/>
          <p:cNvSpPr txBox="1"/>
          <p:nvPr/>
        </p:nvSpPr>
        <p:spPr>
          <a:xfrm>
            <a:off x="1508759" y="2926079"/>
            <a:ext cx="8595361" cy="285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Patient Zero identified, error patterns ranked by confidence</a:t>
            </a:r>
          </a:p>
        </p:txBody>
      </p:sp>
      <p:sp>
        <p:nvSpPr>
          <p:cNvPr id="712" name="Rectangle 15"/>
          <p:cNvSpPr/>
          <p:nvPr/>
        </p:nvSpPr>
        <p:spPr>
          <a:xfrm>
            <a:off x="1060703" y="3236976"/>
            <a:ext cx="36577" cy="164593"/>
          </a:xfrm>
          <a:prstGeom prst="rect">
            <a:avLst/>
          </a:prstGeom>
          <a:solidFill>
            <a:srgbClr val="3A505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3" name="Oval 16"/>
          <p:cNvSpPr/>
          <p:nvPr/>
        </p:nvSpPr>
        <p:spPr>
          <a:xfrm>
            <a:off x="914399" y="3419855"/>
            <a:ext cx="329186" cy="329185"/>
          </a:xfrm>
          <a:prstGeom prst="ellipse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4" name="TextBox 17"/>
          <p:cNvSpPr txBox="1"/>
          <p:nvPr/>
        </p:nvSpPr>
        <p:spPr>
          <a:xfrm>
            <a:off x="960119" y="3438144"/>
            <a:ext cx="237746" cy="280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500"/>
              </a:lnSpc>
              <a:defRPr b="1" sz="13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15" name="TextBox 18"/>
          <p:cNvSpPr txBox="1"/>
          <p:nvPr/>
        </p:nvSpPr>
        <p:spPr>
          <a:xfrm>
            <a:off x="1508759" y="3438144"/>
            <a:ext cx="8595361" cy="285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Service topology with blast radius highlighted</a:t>
            </a:r>
          </a:p>
        </p:txBody>
      </p:sp>
      <p:sp>
        <p:nvSpPr>
          <p:cNvPr id="716" name="Rectangle 19"/>
          <p:cNvSpPr/>
          <p:nvPr/>
        </p:nvSpPr>
        <p:spPr>
          <a:xfrm>
            <a:off x="1060703" y="3749040"/>
            <a:ext cx="36577" cy="164593"/>
          </a:xfrm>
          <a:prstGeom prst="rect">
            <a:avLst/>
          </a:prstGeom>
          <a:solidFill>
            <a:srgbClr val="3A505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7" name="Oval 20"/>
          <p:cNvSpPr/>
          <p:nvPr/>
        </p:nvSpPr>
        <p:spPr>
          <a:xfrm>
            <a:off x="914399" y="3931920"/>
            <a:ext cx="329186" cy="329185"/>
          </a:xfrm>
          <a:prstGeom prst="ellipse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8" name="TextBox 21"/>
          <p:cNvSpPr txBox="1"/>
          <p:nvPr/>
        </p:nvSpPr>
        <p:spPr>
          <a:xfrm>
            <a:off x="960119" y="3950208"/>
            <a:ext cx="237746" cy="28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500"/>
              </a:lnSpc>
              <a:defRPr b="1" sz="13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19" name="TextBox 22"/>
          <p:cNvSpPr txBox="1"/>
          <p:nvPr/>
        </p:nvSpPr>
        <p:spPr>
          <a:xfrm>
            <a:off x="1508759" y="3950208"/>
            <a:ext cx="8595361" cy="285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Generate fix → Review diff → Create PR with full context</a:t>
            </a:r>
          </a:p>
        </p:txBody>
      </p:sp>
      <p:sp>
        <p:nvSpPr>
          <p:cNvPr id="720" name="Rectangle 23"/>
          <p:cNvSpPr/>
          <p:nvPr/>
        </p:nvSpPr>
        <p:spPr>
          <a:xfrm>
            <a:off x="1060703" y="4261103"/>
            <a:ext cx="36577" cy="164593"/>
          </a:xfrm>
          <a:prstGeom prst="rect">
            <a:avLst/>
          </a:prstGeom>
          <a:solidFill>
            <a:srgbClr val="3A505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1" name="Oval 24"/>
          <p:cNvSpPr/>
          <p:nvPr/>
        </p:nvSpPr>
        <p:spPr>
          <a:xfrm>
            <a:off x="914399" y="4443984"/>
            <a:ext cx="329186" cy="329185"/>
          </a:xfrm>
          <a:prstGeom prst="ellipse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2" name="TextBox 25"/>
          <p:cNvSpPr txBox="1"/>
          <p:nvPr/>
        </p:nvSpPr>
        <p:spPr>
          <a:xfrm>
            <a:off x="960119" y="4462271"/>
            <a:ext cx="237746" cy="28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500"/>
              </a:lnSpc>
              <a:defRPr b="1" sz="13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23" name="TextBox 26"/>
          <p:cNvSpPr txBox="1"/>
          <p:nvPr/>
        </p:nvSpPr>
        <p:spPr>
          <a:xfrm>
            <a:off x="1508759" y="4462271"/>
            <a:ext cx="8595361" cy="285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Create Jira ticket + Remedy incident (mock mode)</a:t>
            </a:r>
          </a:p>
        </p:txBody>
      </p:sp>
      <p:sp>
        <p:nvSpPr>
          <p:cNvPr id="724" name="Rectangle 27"/>
          <p:cNvSpPr/>
          <p:nvPr/>
        </p:nvSpPr>
        <p:spPr>
          <a:xfrm>
            <a:off x="1060703" y="4773167"/>
            <a:ext cx="36577" cy="164593"/>
          </a:xfrm>
          <a:prstGeom prst="rect">
            <a:avLst/>
          </a:prstGeom>
          <a:solidFill>
            <a:srgbClr val="3A505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5" name="Oval 28"/>
          <p:cNvSpPr/>
          <p:nvPr/>
        </p:nvSpPr>
        <p:spPr>
          <a:xfrm>
            <a:off x="914399" y="4956047"/>
            <a:ext cx="329186" cy="329185"/>
          </a:xfrm>
          <a:prstGeom prst="ellipse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6" name="TextBox 29"/>
          <p:cNvSpPr txBox="1"/>
          <p:nvPr/>
        </p:nvSpPr>
        <p:spPr>
          <a:xfrm>
            <a:off x="960119" y="4974335"/>
            <a:ext cx="237746" cy="28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500"/>
              </a:lnSpc>
              <a:defRPr b="1" sz="1300">
                <a:solidFill>
                  <a:srgbClr val="080E1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27" name="TextBox 30"/>
          <p:cNvSpPr txBox="1"/>
          <p:nvPr/>
        </p:nvSpPr>
        <p:spPr>
          <a:xfrm>
            <a:off x="1508759" y="4974335"/>
            <a:ext cx="8595361" cy="285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500"/>
              </a:lnSpc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Generate 10-section Dossier → Edit → Publish to Confluence</a:t>
            </a:r>
          </a:p>
        </p:txBody>
      </p:sp>
      <p:sp>
        <p:nvSpPr>
          <p:cNvPr id="728" name="Rectangle 31"/>
          <p:cNvSpPr/>
          <p:nvPr/>
        </p:nvSpPr>
        <p:spPr>
          <a:xfrm>
            <a:off x="-1" y="5669279"/>
            <a:ext cx="12191697" cy="1188721"/>
          </a:xfrm>
          <a:prstGeom prst="rect">
            <a:avLst/>
          </a:prstGeom>
          <a:solidFill>
            <a:srgbClr val="111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9" name="Rectangle 32"/>
          <p:cNvSpPr/>
          <p:nvPr/>
        </p:nvSpPr>
        <p:spPr>
          <a:xfrm>
            <a:off x="-1" y="5669279"/>
            <a:ext cx="12191697" cy="36577"/>
          </a:xfrm>
          <a:prstGeom prst="rect">
            <a:avLst/>
          </a:prstGeom>
          <a:solidFill>
            <a:srgbClr val="07B6D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0" name="TextBox 33"/>
          <p:cNvSpPr txBox="1"/>
          <p:nvPr/>
        </p:nvSpPr>
        <p:spPr>
          <a:xfrm>
            <a:off x="960119" y="5852159"/>
            <a:ext cx="9966962" cy="329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900"/>
              </a:lnSpc>
              <a:defRPr b="1" sz="1600">
                <a:solidFill>
                  <a:srgbClr val="07B6D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Reduce MTTR by 95%  ·  Eliminate on-call toil  ·  Ship fixes faster  ·  Full audit trail</a:t>
            </a:r>
          </a:p>
        </p:txBody>
      </p:sp>
      <p:sp>
        <p:nvSpPr>
          <p:cNvPr id="731" name="TextBox 34"/>
          <p:cNvSpPr txBox="1"/>
          <p:nvPr/>
        </p:nvSpPr>
        <p:spPr>
          <a:xfrm>
            <a:off x="960119" y="6263640"/>
            <a:ext cx="9966962" cy="271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6B8A92"/>
                </a:solidFill>
              </a:defRPr>
            </a:lvl1pPr>
          </a:lstStyle>
          <a:p>
            <a:pPr/>
            <a:r>
              <a:t>debug-duck.io  |  hello@debug-duck.io  |  Schedule a Demo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